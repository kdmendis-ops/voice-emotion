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Voice Emotion Analyzer — a project that combines AI, voice technology, and social-emotional learning to understand how people feel. In this presentation, we'll walk through what was built, how it works, and where it's going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challenge this project addresses is the gap between what is said and what is felt. While speech recognition has become widely available, the emotional layer — the tone, the stress, the underlying feeling — is rarely captured and mapped to something actionable. This project aims to close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Emotion Analyzer was built in two weeks, starting with a text-based prototype and evolving into a full voice pipeline. It supports both voice and text input, runs locally on macOS, and stores every analyzed conversation in a Supabase cloud database for future review and pattern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was chosen for its modern capabilities and developer-friendliness. Google Gemini 2.5-flash handles both audio transcription and emotion analysis in a single API call. LangGraph provides a clean, extensible workflow graph. Supabase offers a managed PostgreSQL backend with a simple Python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text pipeline is the foundation of the app. The user types a message, LangGraph routes it through the analyze node where Gemini reads it and returns structured JSON containing the detected emotion, the corresponding CASEL competency, and an empathetic response. The save node then writes everything to Supabase.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voice pipeline extends the text pipeline by adding a recording step. The microphone captures 5 seconds of audio, which is saved as a temporary WAV file and uploaded to the Gemini Files API. In a single prompt, Gemini both transcribes the speech and analyzes its emotional content — returning all four fields: transcript, emotion, CASEL competency, and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CASEL — the Collaborative for Academic, Social, and Emotional Learning — provides a research-backed framework for social-emotional development. By mapping detected emotions to one of five competencies, the app transforms raw AI output into something educationally meaningful and actionable. A student, coach, or clinician can use this mapping to guide reflection and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evolution of this project moves from local Python to a scalable n8n workflow. A webhook receives voice input, a Transcription Agent converts speech to text, and a central AI Agent routes to two parallel sub-agents: one retrieves context from a Supabase vector store using RAG, and the other performs emotion analysis, flagging, and summarisation. This architecture enables real-time, production-grade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sample outputs demonstrate the app working end-to-end. Short voice inputs like casual greetings map to neutral emotion with relationship-skills competency, while richer emotional statements like expressing feeling overwhelmed correctly surface sadness and self-awareness. Each result is stored in Supabase with a session 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is solid — the core pipeline works end-to-end. The immediate next steps are to build out the RAG layer for contextual memory, create a visual dashboard for emotion trends, and expose the app as an API. Longer term, the n8n architecture opens the door to real-time, production-scale deployments suitable for mental health, education, and coaching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C9A7"/>
          </a:solidFill>
          <a:ln w="12700">
            <a:solidFill>
              <a:srgbClr val="00C9A7"/>
            </a:solidFill>
            <a:prstDash val="solid"/>
          </a:ln>
        </p:spPr>
      </p:sp>
      <p:sp>
        <p:nvSpPr>
          <p:cNvPr id="3" name="Shape 1"/>
          <p:cNvSpPr/>
          <p:nvPr/>
        </p:nvSpPr>
        <p:spPr>
          <a:xfrm>
            <a:off x="0" y="109728"/>
            <a:ext cx="109728" cy="5033772"/>
          </a:xfrm>
          <a:prstGeom prst="rect">
            <a:avLst/>
          </a:prstGeom>
          <a:solidFill>
            <a:srgbClr val="00C9A7"/>
          </a:solidFill>
          <a:ln w="12700">
            <a:solidFill>
              <a:srgbClr val="00C9A7"/>
            </a:solidFill>
            <a:prstDash val="solid"/>
          </a:ln>
        </p:spPr>
      </p:sp>
      <p:sp>
        <p:nvSpPr>
          <p:cNvPr id="4" name="Text 2"/>
          <p:cNvSpPr/>
          <p:nvPr/>
        </p:nvSpPr>
        <p:spPr>
          <a:xfrm>
            <a:off x="457200" y="914400"/>
            <a:ext cx="8503920" cy="1097280"/>
          </a:xfrm>
          <a:prstGeom prst="rect">
            <a:avLst/>
          </a:prstGeom>
          <a:noFill/>
          <a:ln/>
        </p:spPr>
        <p:txBody>
          <a:bodyPr wrap="square" lIns="0" tIns="0" rIns="0" bIns="0" rtlCol="0" anchor="ctr"/>
          <a:lstStyle/>
          <a:p>
            <a:pPr algn="l" indent="0" marL="0">
              <a:buNone/>
            </a:pPr>
            <a:r>
              <a:rPr lang="en-US" sz="6400" b="1" dirty="0">
                <a:solidFill>
                  <a:srgbClr val="FFFFFF"/>
                </a:solidFill>
                <a:latin typeface="Calibri" pitchFamily="34" charset="0"/>
                <a:ea typeface="Calibri" pitchFamily="34" charset="-122"/>
                <a:cs typeface="Calibri" pitchFamily="34" charset="-120"/>
              </a:rPr>
              <a:t>Voice Emotion</a:t>
            </a:r>
            <a:endParaRPr lang="en-US" sz="6400" dirty="0"/>
          </a:p>
        </p:txBody>
      </p:sp>
      <p:sp>
        <p:nvSpPr>
          <p:cNvPr id="5" name="Text 3"/>
          <p:cNvSpPr/>
          <p:nvPr/>
        </p:nvSpPr>
        <p:spPr>
          <a:xfrm>
            <a:off x="457200" y="1920240"/>
            <a:ext cx="8503920" cy="1005840"/>
          </a:xfrm>
          <a:prstGeom prst="rect">
            <a:avLst/>
          </a:prstGeom>
          <a:noFill/>
          <a:ln/>
        </p:spPr>
        <p:txBody>
          <a:bodyPr wrap="square" lIns="0" tIns="0" rIns="0" bIns="0" rtlCol="0" anchor="ctr"/>
          <a:lstStyle/>
          <a:p>
            <a:pPr algn="l" indent="0" marL="0">
              <a:buNone/>
            </a:pPr>
            <a:r>
              <a:rPr lang="en-US" sz="6400" b="1" dirty="0">
                <a:solidFill>
                  <a:srgbClr val="00C9A7"/>
                </a:solidFill>
                <a:latin typeface="Calibri" pitchFamily="34" charset="0"/>
                <a:ea typeface="Calibri" pitchFamily="34" charset="-122"/>
                <a:cs typeface="Calibri" pitchFamily="34" charset="-120"/>
              </a:rPr>
              <a:t>Analyzer</a:t>
            </a:r>
            <a:endParaRPr lang="en-US" sz="6400" dirty="0"/>
          </a:p>
        </p:txBody>
      </p:sp>
      <p:sp>
        <p:nvSpPr>
          <p:cNvPr id="6" name="Text 4"/>
          <p:cNvSpPr/>
          <p:nvPr/>
        </p:nvSpPr>
        <p:spPr>
          <a:xfrm>
            <a:off x="457200" y="3017520"/>
            <a:ext cx="7315200" cy="822960"/>
          </a:xfrm>
          <a:prstGeom prst="rect">
            <a:avLst/>
          </a:prstGeom>
          <a:noFill/>
          <a:ln/>
        </p:spPr>
        <p:txBody>
          <a:bodyPr wrap="square" lIns="0" tIns="0" rIns="0" bIns="0" rtlCol="0" anchor="ctr"/>
          <a:lstStyle/>
          <a:p>
            <a:pPr algn="l" indent="0" marL="0">
              <a:buNone/>
            </a:pPr>
            <a:r>
              <a:rPr lang="en-US" sz="1500" dirty="0">
                <a:solidFill>
                  <a:srgbClr val="A8B2BB"/>
                </a:solidFill>
                <a:latin typeface="Calibri" pitchFamily="34" charset="0"/>
                <a:ea typeface="Calibri" pitchFamily="34" charset="-122"/>
                <a:cs typeface="Calibri" pitchFamily="34" charset="-120"/>
              </a:rPr>
              <a:t>AI-Powered Emotion Detection from Voice &amp; Text</a:t>
            </a:r>
            <a:endParaRPr lang="en-US" sz="1500" dirty="0"/>
          </a:p>
          <a:p>
            <a:pPr algn="l" indent="0" marL="0">
              <a:buNone/>
            </a:pPr>
            <a:r>
              <a:rPr lang="en-US" sz="1500" dirty="0">
                <a:solidFill>
                  <a:srgbClr val="A8B2BB"/>
                </a:solidFill>
                <a:latin typeface="Calibri" pitchFamily="34" charset="0"/>
                <a:ea typeface="Calibri" pitchFamily="34" charset="-122"/>
                <a:cs typeface="Calibri" pitchFamily="34" charset="-120"/>
              </a:rPr>
              <a:t>using Google Gemini · LangGraph · Supabase</a:t>
            </a:r>
            <a:endParaRPr lang="en-US" sz="1500" dirty="0"/>
          </a:p>
        </p:txBody>
      </p:sp>
      <p:sp>
        <p:nvSpPr>
          <p:cNvPr id="7" name="Shape 5"/>
          <p:cNvSpPr/>
          <p:nvPr/>
        </p:nvSpPr>
        <p:spPr>
          <a:xfrm>
            <a:off x="457200" y="3950208"/>
            <a:ext cx="3200400" cy="27432"/>
          </a:xfrm>
          <a:prstGeom prst="rect">
            <a:avLst/>
          </a:prstGeom>
          <a:solidFill>
            <a:srgbClr val="FF6B35"/>
          </a:solidFill>
          <a:ln w="12700">
            <a:solidFill>
              <a:srgbClr val="FF6B35"/>
            </a:solidFill>
            <a:prstDash val="solid"/>
          </a:ln>
        </p:spPr>
      </p:sp>
      <p:sp>
        <p:nvSpPr>
          <p:cNvPr id="8" name="Text 6"/>
          <p:cNvSpPr/>
          <p:nvPr/>
        </p:nvSpPr>
        <p:spPr>
          <a:xfrm>
            <a:off x="457200" y="4114800"/>
            <a:ext cx="5486400" cy="274320"/>
          </a:xfrm>
          <a:prstGeom prst="rect">
            <a:avLst/>
          </a:prstGeom>
          <a:noFill/>
          <a:ln/>
        </p:spPr>
        <p:txBody>
          <a:bodyPr wrap="square" lIns="0" tIns="0" rIns="0" bIns="0" rtlCol="0" anchor="ctr"/>
          <a:lstStyle/>
          <a:p>
            <a:pPr algn="l" indent="0" marL="0">
              <a:buNone/>
            </a:pPr>
            <a:r>
              <a:rPr lang="en-US" sz="1100" dirty="0">
                <a:solidFill>
                  <a:srgbClr val="A8B2BB"/>
                </a:solidFill>
              </a:rPr>
              <a:t>Built by Shaun Mendis  ·  March 2026</a:t>
            </a:r>
            <a:endParaRPr lang="en-US" sz="1100" dirty="0"/>
          </a:p>
        </p:txBody>
      </p:sp>
      <p:sp>
        <p:nvSpPr>
          <p:cNvPr id="9" name="Shape 7"/>
          <p:cNvSpPr/>
          <p:nvPr/>
        </p:nvSpPr>
        <p:spPr>
          <a:xfrm>
            <a:off x="0" y="5029200"/>
            <a:ext cx="9144000" cy="114300"/>
          </a:xfrm>
          <a:prstGeom prst="rect">
            <a:avLst/>
          </a:prstGeom>
          <a:solidFill>
            <a:srgbClr val="00C9A7"/>
          </a:solidFill>
          <a:ln w="12700">
            <a:solidFill>
              <a:srgbClr val="00C9A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56032"/>
            <a:ext cx="1463040" cy="256032"/>
          </a:xfrm>
          <a:prstGeom prst="roundRect">
            <a:avLst>
              <a:gd name="adj" fmla="val 17857"/>
            </a:avLst>
          </a:prstGeom>
          <a:solidFill>
            <a:srgbClr val="00C9A7">
              <a:alpha val="80000"/>
            </a:srgbClr>
          </a:solidFill>
          <a:ln w="12700">
            <a:solidFill>
              <a:srgbClr val="00C9A7"/>
            </a:solidFill>
            <a:prstDash val="solid"/>
          </a:ln>
        </p:spPr>
      </p:sp>
      <p:sp>
        <p:nvSpPr>
          <p:cNvPr id="3" name="Text 1"/>
          <p:cNvSpPr/>
          <p:nvPr/>
        </p:nvSpPr>
        <p:spPr>
          <a:xfrm>
            <a:off x="365760" y="256032"/>
            <a:ext cx="1463040" cy="256032"/>
          </a:xfrm>
          <a:prstGeom prst="rect">
            <a:avLst/>
          </a:prstGeom>
          <a:noFill/>
          <a:ln/>
        </p:spPr>
        <p:txBody>
          <a:bodyPr wrap="square" lIns="0" tIns="0" rIns="0" bIns="0" rtlCol="0" anchor="ctr"/>
          <a:lstStyle/>
          <a:p>
            <a:pPr algn="ctr" indent="0" marL="0">
              <a:buNone/>
            </a:pPr>
            <a:r>
              <a:rPr lang="en-US" sz="750" b="1" spc="150" kern="0" dirty="0">
                <a:solidFill>
                  <a:srgbClr val="FFFFFF"/>
                </a:solidFill>
              </a:rPr>
              <a:t>PROBLEM</a:t>
            </a:r>
            <a:endParaRPr lang="en-US" sz="750" dirty="0"/>
          </a:p>
        </p:txBody>
      </p:sp>
      <p:sp>
        <p:nvSpPr>
          <p:cNvPr id="4" name="Text 2"/>
          <p:cNvSpPr/>
          <p:nvPr/>
        </p:nvSpPr>
        <p:spPr>
          <a:xfrm>
            <a:off x="365760" y="658368"/>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The Problem</a:t>
            </a:r>
            <a:endParaRPr lang="en-US" sz="3000" dirty="0"/>
          </a:p>
        </p:txBody>
      </p:sp>
      <p:sp>
        <p:nvSpPr>
          <p:cNvPr id="5" name="Shape 3"/>
          <p:cNvSpPr/>
          <p:nvPr/>
        </p:nvSpPr>
        <p:spPr>
          <a:xfrm>
            <a:off x="365760" y="1188720"/>
            <a:ext cx="914400" cy="45720"/>
          </a:xfrm>
          <a:prstGeom prst="rect">
            <a:avLst/>
          </a:prstGeom>
          <a:solidFill>
            <a:srgbClr val="00C9A7"/>
          </a:solidFill>
          <a:ln w="12700">
            <a:solidFill>
              <a:srgbClr val="00C9A7"/>
            </a:solidFill>
            <a:prstDash val="solid"/>
          </a:ln>
        </p:spPr>
      </p:sp>
      <p:sp>
        <p:nvSpPr>
          <p:cNvPr id="6" name="Text 4"/>
          <p:cNvSpPr/>
          <p:nvPr/>
        </p:nvSpPr>
        <p:spPr>
          <a:xfrm>
            <a:off x="8229600" y="4800600"/>
            <a:ext cx="731520" cy="182880"/>
          </a:xfrm>
          <a:prstGeom prst="rect">
            <a:avLst/>
          </a:prstGeom>
          <a:noFill/>
          <a:ln/>
        </p:spPr>
        <p:txBody>
          <a:bodyPr wrap="square" lIns="0" tIns="0" rIns="0" bIns="0" rtlCol="0" anchor="ctr"/>
          <a:lstStyle/>
          <a:p>
            <a:pPr algn="r" indent="0" marL="0">
              <a:buNone/>
            </a:pPr>
            <a:r>
              <a:rPr lang="en-US" sz="900" dirty="0">
                <a:solidFill>
                  <a:srgbClr val="A8B2BB"/>
                </a:solidFill>
              </a:rPr>
              <a:t>2 / 10</a:t>
            </a:r>
            <a:endParaRPr lang="en-US" sz="900" dirty="0"/>
          </a:p>
        </p:txBody>
      </p:sp>
      <p:sp>
        <p:nvSpPr>
          <p:cNvPr id="7" name="Shape 5"/>
          <p:cNvSpPr/>
          <p:nvPr/>
        </p:nvSpPr>
        <p:spPr>
          <a:xfrm>
            <a:off x="365760" y="1490472"/>
            <a:ext cx="201168" cy="201168"/>
          </a:xfrm>
          <a:prstGeom prst="ellipse">
            <a:avLst/>
          </a:prstGeom>
          <a:solidFill>
            <a:srgbClr val="FF6B35"/>
          </a:solidFill>
          <a:ln w="12700">
            <a:solidFill>
              <a:srgbClr val="FF6B35"/>
            </a:solidFill>
            <a:prstDash val="solid"/>
          </a:ln>
        </p:spPr>
      </p:sp>
      <p:sp>
        <p:nvSpPr>
          <p:cNvPr id="8" name="Text 6"/>
          <p:cNvSpPr/>
          <p:nvPr/>
        </p:nvSpPr>
        <p:spPr>
          <a:xfrm>
            <a:off x="685800" y="1417320"/>
            <a:ext cx="8138160" cy="658368"/>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Emotional intelligence is critical for mental wellness, education, and human-computer interaction.</a:t>
            </a:r>
            <a:endParaRPr lang="en-US" sz="1600" dirty="0"/>
          </a:p>
        </p:txBody>
      </p:sp>
      <p:sp>
        <p:nvSpPr>
          <p:cNvPr id="9" name="Shape 7"/>
          <p:cNvSpPr/>
          <p:nvPr/>
        </p:nvSpPr>
        <p:spPr>
          <a:xfrm>
            <a:off x="365760" y="2331720"/>
            <a:ext cx="201168" cy="201168"/>
          </a:xfrm>
          <a:prstGeom prst="ellipse">
            <a:avLst/>
          </a:prstGeom>
          <a:solidFill>
            <a:srgbClr val="00C9A7"/>
          </a:solidFill>
          <a:ln w="12700">
            <a:solidFill>
              <a:srgbClr val="00C9A7"/>
            </a:solidFill>
            <a:prstDash val="solid"/>
          </a:ln>
        </p:spPr>
      </p:sp>
      <p:sp>
        <p:nvSpPr>
          <p:cNvPr id="10" name="Text 8"/>
          <p:cNvSpPr/>
          <p:nvPr/>
        </p:nvSpPr>
        <p:spPr>
          <a:xfrm>
            <a:off x="685800" y="2258568"/>
            <a:ext cx="8138160" cy="658368"/>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Most apps process WHAT people say — not HOW they feel when saying it.</a:t>
            </a:r>
            <a:endParaRPr lang="en-US" sz="1600" dirty="0"/>
          </a:p>
        </p:txBody>
      </p:sp>
      <p:sp>
        <p:nvSpPr>
          <p:cNvPr id="11" name="Shape 9"/>
          <p:cNvSpPr/>
          <p:nvPr/>
        </p:nvSpPr>
        <p:spPr>
          <a:xfrm>
            <a:off x="365760" y="3172968"/>
            <a:ext cx="201168" cy="201168"/>
          </a:xfrm>
          <a:prstGeom prst="ellipse">
            <a:avLst/>
          </a:prstGeom>
          <a:solidFill>
            <a:srgbClr val="FF6B35"/>
          </a:solidFill>
          <a:ln w="12700">
            <a:solidFill>
              <a:srgbClr val="FF6B35"/>
            </a:solidFill>
            <a:prstDash val="solid"/>
          </a:ln>
        </p:spPr>
      </p:sp>
      <p:sp>
        <p:nvSpPr>
          <p:cNvPr id="12" name="Text 10"/>
          <p:cNvSpPr/>
          <p:nvPr/>
        </p:nvSpPr>
        <p:spPr>
          <a:xfrm>
            <a:off x="685800" y="3099816"/>
            <a:ext cx="8138160" cy="658368"/>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No simple open tool connects voice input → emotion detection → a learning framework.</a:t>
            </a:r>
            <a:endParaRPr lang="en-US" sz="1600" dirty="0"/>
          </a:p>
        </p:txBody>
      </p:sp>
      <p:sp>
        <p:nvSpPr>
          <p:cNvPr id="13" name="Shape 11"/>
          <p:cNvSpPr/>
          <p:nvPr/>
        </p:nvSpPr>
        <p:spPr>
          <a:xfrm>
            <a:off x="365760" y="4014216"/>
            <a:ext cx="201168" cy="201168"/>
          </a:xfrm>
          <a:prstGeom prst="ellipse">
            <a:avLst/>
          </a:prstGeom>
          <a:solidFill>
            <a:srgbClr val="00C9A7"/>
          </a:solidFill>
          <a:ln w="12700">
            <a:solidFill>
              <a:srgbClr val="00C9A7"/>
            </a:solidFill>
            <a:prstDash val="solid"/>
          </a:ln>
        </p:spPr>
      </p:sp>
      <p:sp>
        <p:nvSpPr>
          <p:cNvPr id="14" name="Text 12"/>
          <p:cNvSpPr/>
          <p:nvPr/>
        </p:nvSpPr>
        <p:spPr>
          <a:xfrm>
            <a:off x="685800" y="3941064"/>
            <a:ext cx="8138160" cy="658368"/>
          </a:xfrm>
          <a:prstGeom prst="rect">
            <a:avLst/>
          </a:prstGeom>
          <a:noFill/>
          <a:ln/>
        </p:spPr>
        <p:txBody>
          <a:bodyPr wrap="square" lIns="0" tIns="0" rIns="0" bIns="0" rtlCol="0" anchor="t"/>
          <a:lstStyle/>
          <a:p>
            <a:pPr algn="l" indent="0" marL="0">
              <a:buNone/>
            </a:pPr>
            <a:r>
              <a:rPr lang="en-US" sz="1600" dirty="0">
                <a:solidFill>
                  <a:srgbClr val="FFFFFF"/>
                </a:solidFill>
                <a:latin typeface="Calibri" pitchFamily="34" charset="0"/>
                <a:ea typeface="Calibri" pitchFamily="34" charset="-122"/>
                <a:cs typeface="Calibri" pitchFamily="34" charset="-120"/>
              </a:rPr>
              <a:t>Mental health professionals, educators, and coaches lack real-time emotional data from voice.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56032"/>
            <a:ext cx="1463040" cy="256032"/>
          </a:xfrm>
          <a:prstGeom prst="roundRect">
            <a:avLst>
              <a:gd name="adj" fmla="val 17857"/>
            </a:avLst>
          </a:prstGeom>
          <a:solidFill>
            <a:srgbClr val="00C9A7">
              <a:alpha val="80000"/>
            </a:srgbClr>
          </a:solidFill>
          <a:ln w="12700">
            <a:solidFill>
              <a:srgbClr val="00C9A7"/>
            </a:solidFill>
            <a:prstDash val="solid"/>
          </a:ln>
        </p:spPr>
      </p:sp>
      <p:sp>
        <p:nvSpPr>
          <p:cNvPr id="3" name="Text 1"/>
          <p:cNvSpPr/>
          <p:nvPr/>
        </p:nvSpPr>
        <p:spPr>
          <a:xfrm>
            <a:off x="365760" y="256032"/>
            <a:ext cx="1463040" cy="256032"/>
          </a:xfrm>
          <a:prstGeom prst="rect">
            <a:avLst/>
          </a:prstGeom>
          <a:noFill/>
          <a:ln/>
        </p:spPr>
        <p:txBody>
          <a:bodyPr wrap="square" lIns="0" tIns="0" rIns="0" bIns="0" rtlCol="0" anchor="ctr"/>
          <a:lstStyle/>
          <a:p>
            <a:pPr algn="ctr" indent="0" marL="0">
              <a:buNone/>
            </a:pPr>
            <a:r>
              <a:rPr lang="en-US" sz="750" b="1" spc="150" kern="0" dirty="0">
                <a:solidFill>
                  <a:srgbClr val="FFFFFF"/>
                </a:solidFill>
              </a:rPr>
              <a:t>OVERVIEW</a:t>
            </a:r>
            <a:endParaRPr lang="en-US" sz="750" dirty="0"/>
          </a:p>
        </p:txBody>
      </p:sp>
      <p:sp>
        <p:nvSpPr>
          <p:cNvPr id="4" name="Text 2"/>
          <p:cNvSpPr/>
          <p:nvPr/>
        </p:nvSpPr>
        <p:spPr>
          <a:xfrm>
            <a:off x="365760" y="658368"/>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Was Built</a:t>
            </a:r>
            <a:endParaRPr lang="en-US" sz="3000" dirty="0"/>
          </a:p>
        </p:txBody>
      </p:sp>
      <p:sp>
        <p:nvSpPr>
          <p:cNvPr id="5" name="Shape 3"/>
          <p:cNvSpPr/>
          <p:nvPr/>
        </p:nvSpPr>
        <p:spPr>
          <a:xfrm>
            <a:off x="365760" y="1188720"/>
            <a:ext cx="914400" cy="45720"/>
          </a:xfrm>
          <a:prstGeom prst="rect">
            <a:avLst/>
          </a:prstGeom>
          <a:solidFill>
            <a:srgbClr val="00C9A7"/>
          </a:solidFill>
          <a:ln w="12700">
            <a:solidFill>
              <a:srgbClr val="00C9A7"/>
            </a:solidFill>
            <a:prstDash val="solid"/>
          </a:ln>
        </p:spPr>
      </p:sp>
      <p:sp>
        <p:nvSpPr>
          <p:cNvPr id="6" name="Text 4"/>
          <p:cNvSpPr/>
          <p:nvPr/>
        </p:nvSpPr>
        <p:spPr>
          <a:xfrm>
            <a:off x="8229600" y="4800600"/>
            <a:ext cx="731520" cy="182880"/>
          </a:xfrm>
          <a:prstGeom prst="rect">
            <a:avLst/>
          </a:prstGeom>
          <a:noFill/>
          <a:ln/>
        </p:spPr>
        <p:txBody>
          <a:bodyPr wrap="square" lIns="0" tIns="0" rIns="0" bIns="0" rtlCol="0" anchor="ctr"/>
          <a:lstStyle/>
          <a:p>
            <a:pPr algn="r" indent="0" marL="0">
              <a:buNone/>
            </a:pPr>
            <a:r>
              <a:rPr lang="en-US" sz="900" dirty="0">
                <a:solidFill>
                  <a:srgbClr val="A8B2BB"/>
                </a:solidFill>
              </a:rPr>
              <a:t>3 / 10</a:t>
            </a:r>
            <a:endParaRPr lang="en-US" sz="900" dirty="0"/>
          </a:p>
        </p:txBody>
      </p:sp>
      <p:sp>
        <p:nvSpPr>
          <p:cNvPr id="7" name="Shape 5"/>
          <p:cNvSpPr/>
          <p:nvPr/>
        </p:nvSpPr>
        <p:spPr>
          <a:xfrm>
            <a:off x="365760" y="1298448"/>
            <a:ext cx="8412480" cy="804672"/>
          </a:xfrm>
          <a:prstGeom prst="rect">
            <a:avLst/>
          </a:prstGeom>
          <a:solidFill>
            <a:srgbClr val="0A2A1E"/>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502920" y="1353312"/>
            <a:ext cx="8138160" cy="694944"/>
          </a:xfrm>
          <a:prstGeom prst="rect">
            <a:avLst/>
          </a:prstGeom>
          <a:noFill/>
          <a:ln/>
        </p:spPr>
        <p:txBody>
          <a:bodyPr wrap="square" lIns="0" tIns="0" rIns="0" bIns="0" rtlCol="0" anchor="ctr"/>
          <a:lstStyle/>
          <a:p>
            <a:pPr algn="l" indent="0" marL="0">
              <a:buNone/>
            </a:pPr>
            <a:r>
              <a:rPr lang="en-US" sz="1350" i="1" dirty="0">
                <a:solidFill>
                  <a:srgbClr val="E8F8F5"/>
                </a:solidFill>
                <a:latin typeface="Calibri" pitchFamily="34" charset="0"/>
                <a:ea typeface="Calibri" pitchFamily="34" charset="-122"/>
                <a:cs typeface="Calibri" pitchFamily="34" charset="-120"/>
              </a:rPr>
              <a:t>A Python application that records voice input, transcribes speech, detects the underlying emotion using Google Gemini AI, maps it to a CASEL SEL competency, and saves every conversation to a cloud database.</a:t>
            </a:r>
            <a:endParaRPr lang="en-US" sz="1350" dirty="0"/>
          </a:p>
        </p:txBody>
      </p:sp>
      <p:sp>
        <p:nvSpPr>
          <p:cNvPr id="9" name="Shape 7"/>
          <p:cNvSpPr/>
          <p:nvPr/>
        </p:nvSpPr>
        <p:spPr>
          <a:xfrm>
            <a:off x="365760" y="2267712"/>
            <a:ext cx="4160520" cy="621792"/>
          </a:xfrm>
          <a:prstGeom prst="rect">
            <a:avLst/>
          </a:prstGeom>
          <a:solidFill>
            <a:srgbClr val="162436"/>
          </a:solidFill>
          <a:ln w="12700">
            <a:solidFill>
              <a:srgbClr val="1A3A2E"/>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365760" y="2267712"/>
            <a:ext cx="54864" cy="621792"/>
          </a:xfrm>
          <a:prstGeom prst="rect">
            <a:avLst/>
          </a:prstGeom>
          <a:solidFill>
            <a:srgbClr val="00C9A7"/>
          </a:solidFill>
          <a:ln w="12700">
            <a:solidFill>
              <a:srgbClr val="00C9A7"/>
            </a:solidFill>
            <a:prstDash val="solid"/>
          </a:ln>
        </p:spPr>
      </p:sp>
      <p:sp>
        <p:nvSpPr>
          <p:cNvPr id="11" name="Text 9"/>
          <p:cNvSpPr/>
          <p:nvPr/>
        </p:nvSpPr>
        <p:spPr>
          <a:xfrm>
            <a:off x="475488" y="2304288"/>
            <a:ext cx="3977640" cy="237744"/>
          </a:xfrm>
          <a:prstGeom prst="rect">
            <a:avLst/>
          </a:prstGeom>
          <a:noFill/>
          <a:ln/>
        </p:spPr>
        <p:txBody>
          <a:bodyPr wrap="square" lIns="0" tIns="0" rIns="0" bIns="0" rtlCol="0" anchor="ctr"/>
          <a:lstStyle/>
          <a:p>
            <a:pPr indent="0" marL="0">
              <a:buNone/>
            </a:pPr>
            <a:r>
              <a:rPr lang="en-US" sz="1200" b="1" dirty="0">
                <a:solidFill>
                  <a:srgbClr val="00C9A7"/>
                </a:solidFill>
              </a:rPr>
              <a:t>Dual input modes</a:t>
            </a:r>
            <a:endParaRPr lang="en-US" sz="1200" dirty="0"/>
          </a:p>
        </p:txBody>
      </p:sp>
      <p:sp>
        <p:nvSpPr>
          <p:cNvPr id="12" name="Text 10"/>
          <p:cNvSpPr/>
          <p:nvPr/>
        </p:nvSpPr>
        <p:spPr>
          <a:xfrm>
            <a:off x="475488" y="2560320"/>
            <a:ext cx="3977640" cy="292608"/>
          </a:xfrm>
          <a:prstGeom prst="rect">
            <a:avLst/>
          </a:prstGeom>
          <a:noFill/>
          <a:ln/>
        </p:spPr>
        <p:txBody>
          <a:bodyPr wrap="square" lIns="0" tIns="0" rIns="0" bIns="0" rtlCol="0" anchor="ctr"/>
          <a:lstStyle/>
          <a:p>
            <a:pPr indent="0" marL="0">
              <a:buNone/>
            </a:pPr>
            <a:r>
              <a:rPr lang="en-US" sz="1000" dirty="0">
                <a:solidFill>
                  <a:srgbClr val="A8B2BB"/>
                </a:solidFill>
              </a:rPr>
              <a:t>Voice recording + typed text</a:t>
            </a:r>
            <a:endParaRPr lang="en-US" sz="1000" dirty="0"/>
          </a:p>
        </p:txBody>
      </p:sp>
      <p:sp>
        <p:nvSpPr>
          <p:cNvPr id="13" name="Shape 11"/>
          <p:cNvSpPr/>
          <p:nvPr/>
        </p:nvSpPr>
        <p:spPr>
          <a:xfrm>
            <a:off x="4709160" y="2267712"/>
            <a:ext cx="4434840" cy="621792"/>
          </a:xfrm>
          <a:prstGeom prst="rect">
            <a:avLst/>
          </a:prstGeom>
          <a:solidFill>
            <a:srgbClr val="162436"/>
          </a:solidFill>
          <a:ln w="12700">
            <a:solidFill>
              <a:srgbClr val="1A3A2E"/>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4709160" y="2267712"/>
            <a:ext cx="54864" cy="621792"/>
          </a:xfrm>
          <a:prstGeom prst="rect">
            <a:avLst/>
          </a:prstGeom>
          <a:solidFill>
            <a:srgbClr val="00C9A7"/>
          </a:solidFill>
          <a:ln w="12700">
            <a:solidFill>
              <a:srgbClr val="00C9A7"/>
            </a:solidFill>
            <a:prstDash val="solid"/>
          </a:ln>
        </p:spPr>
      </p:sp>
      <p:sp>
        <p:nvSpPr>
          <p:cNvPr id="15" name="Text 13"/>
          <p:cNvSpPr/>
          <p:nvPr/>
        </p:nvSpPr>
        <p:spPr>
          <a:xfrm>
            <a:off x="4818888" y="2304288"/>
            <a:ext cx="4251960" cy="237744"/>
          </a:xfrm>
          <a:prstGeom prst="rect">
            <a:avLst/>
          </a:prstGeom>
          <a:noFill/>
          <a:ln/>
        </p:spPr>
        <p:txBody>
          <a:bodyPr wrap="square" lIns="0" tIns="0" rIns="0" bIns="0" rtlCol="0" anchor="ctr"/>
          <a:lstStyle/>
          <a:p>
            <a:pPr indent="0" marL="0">
              <a:buNone/>
            </a:pPr>
            <a:r>
              <a:rPr lang="en-US" sz="1200" b="1" dirty="0">
                <a:solidFill>
                  <a:srgbClr val="00C9A7"/>
                </a:solidFill>
              </a:rPr>
              <a:t>7 emotion classes</a:t>
            </a:r>
            <a:endParaRPr lang="en-US" sz="1200" dirty="0"/>
          </a:p>
        </p:txBody>
      </p:sp>
      <p:sp>
        <p:nvSpPr>
          <p:cNvPr id="16" name="Text 14"/>
          <p:cNvSpPr/>
          <p:nvPr/>
        </p:nvSpPr>
        <p:spPr>
          <a:xfrm>
            <a:off x="4818888" y="2560320"/>
            <a:ext cx="4251960" cy="292608"/>
          </a:xfrm>
          <a:prstGeom prst="rect">
            <a:avLst/>
          </a:prstGeom>
          <a:noFill/>
          <a:ln/>
        </p:spPr>
        <p:txBody>
          <a:bodyPr wrap="square" lIns="0" tIns="0" rIns="0" bIns="0" rtlCol="0" anchor="ctr"/>
          <a:lstStyle/>
          <a:p>
            <a:pPr indent="0" marL="0">
              <a:buNone/>
            </a:pPr>
            <a:r>
              <a:rPr lang="en-US" sz="1000" dirty="0">
                <a:solidFill>
                  <a:srgbClr val="A8B2BB"/>
                </a:solidFill>
              </a:rPr>
              <a:t>joy · sadness · anger · fear · surprise · disgust · neutral</a:t>
            </a:r>
            <a:endParaRPr lang="en-US" sz="1000" dirty="0"/>
          </a:p>
        </p:txBody>
      </p:sp>
      <p:sp>
        <p:nvSpPr>
          <p:cNvPr id="17" name="Shape 15"/>
          <p:cNvSpPr/>
          <p:nvPr/>
        </p:nvSpPr>
        <p:spPr>
          <a:xfrm>
            <a:off x="365760" y="3017520"/>
            <a:ext cx="4160520" cy="621792"/>
          </a:xfrm>
          <a:prstGeom prst="rect">
            <a:avLst/>
          </a:prstGeom>
          <a:solidFill>
            <a:srgbClr val="162436"/>
          </a:solidFill>
          <a:ln w="12700">
            <a:solidFill>
              <a:srgbClr val="1A3A2E"/>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365760" y="3017520"/>
            <a:ext cx="54864" cy="621792"/>
          </a:xfrm>
          <a:prstGeom prst="rect">
            <a:avLst/>
          </a:prstGeom>
          <a:solidFill>
            <a:srgbClr val="00C9A7"/>
          </a:solidFill>
          <a:ln w="12700">
            <a:solidFill>
              <a:srgbClr val="00C9A7"/>
            </a:solidFill>
            <a:prstDash val="solid"/>
          </a:ln>
        </p:spPr>
      </p:sp>
      <p:sp>
        <p:nvSpPr>
          <p:cNvPr id="19" name="Text 17"/>
          <p:cNvSpPr/>
          <p:nvPr/>
        </p:nvSpPr>
        <p:spPr>
          <a:xfrm>
            <a:off x="475488" y="3054096"/>
            <a:ext cx="3977640" cy="237744"/>
          </a:xfrm>
          <a:prstGeom prst="rect">
            <a:avLst/>
          </a:prstGeom>
          <a:noFill/>
          <a:ln/>
        </p:spPr>
        <p:txBody>
          <a:bodyPr wrap="square" lIns="0" tIns="0" rIns="0" bIns="0" rtlCol="0" anchor="ctr"/>
          <a:lstStyle/>
          <a:p>
            <a:pPr indent="0" marL="0">
              <a:buNone/>
            </a:pPr>
            <a:r>
              <a:rPr lang="en-US" sz="1200" b="1" dirty="0">
                <a:solidFill>
                  <a:srgbClr val="00C9A7"/>
                </a:solidFill>
              </a:rPr>
              <a:t>CASEL mapping</a:t>
            </a:r>
            <a:endParaRPr lang="en-US" sz="1200" dirty="0"/>
          </a:p>
        </p:txBody>
      </p:sp>
      <p:sp>
        <p:nvSpPr>
          <p:cNvPr id="20" name="Text 18"/>
          <p:cNvSpPr/>
          <p:nvPr/>
        </p:nvSpPr>
        <p:spPr>
          <a:xfrm>
            <a:off x="475488" y="3310128"/>
            <a:ext cx="3977640" cy="292608"/>
          </a:xfrm>
          <a:prstGeom prst="rect">
            <a:avLst/>
          </a:prstGeom>
          <a:noFill/>
          <a:ln/>
        </p:spPr>
        <p:txBody>
          <a:bodyPr wrap="square" lIns="0" tIns="0" rIns="0" bIns="0" rtlCol="0" anchor="ctr"/>
          <a:lstStyle/>
          <a:p>
            <a:pPr indent="0" marL="0">
              <a:buNone/>
            </a:pPr>
            <a:r>
              <a:rPr lang="en-US" sz="1000" dirty="0">
                <a:solidFill>
                  <a:srgbClr val="A8B2BB"/>
                </a:solidFill>
              </a:rPr>
              <a:t>5 SEL competency categories</a:t>
            </a:r>
            <a:endParaRPr lang="en-US" sz="1000" dirty="0"/>
          </a:p>
        </p:txBody>
      </p:sp>
      <p:sp>
        <p:nvSpPr>
          <p:cNvPr id="21" name="Shape 19"/>
          <p:cNvSpPr/>
          <p:nvPr/>
        </p:nvSpPr>
        <p:spPr>
          <a:xfrm>
            <a:off x="4709160" y="3017520"/>
            <a:ext cx="4434840" cy="621792"/>
          </a:xfrm>
          <a:prstGeom prst="rect">
            <a:avLst/>
          </a:prstGeom>
          <a:solidFill>
            <a:srgbClr val="162436"/>
          </a:solidFill>
          <a:ln w="12700">
            <a:solidFill>
              <a:srgbClr val="1A3A2E"/>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4709160" y="3017520"/>
            <a:ext cx="54864" cy="621792"/>
          </a:xfrm>
          <a:prstGeom prst="rect">
            <a:avLst/>
          </a:prstGeom>
          <a:solidFill>
            <a:srgbClr val="00C9A7"/>
          </a:solidFill>
          <a:ln w="12700">
            <a:solidFill>
              <a:srgbClr val="00C9A7"/>
            </a:solidFill>
            <a:prstDash val="solid"/>
          </a:ln>
        </p:spPr>
      </p:sp>
      <p:sp>
        <p:nvSpPr>
          <p:cNvPr id="23" name="Text 21"/>
          <p:cNvSpPr/>
          <p:nvPr/>
        </p:nvSpPr>
        <p:spPr>
          <a:xfrm>
            <a:off x="4818888" y="3054096"/>
            <a:ext cx="4251960" cy="237744"/>
          </a:xfrm>
          <a:prstGeom prst="rect">
            <a:avLst/>
          </a:prstGeom>
          <a:noFill/>
          <a:ln/>
        </p:spPr>
        <p:txBody>
          <a:bodyPr wrap="square" lIns="0" tIns="0" rIns="0" bIns="0" rtlCol="0" anchor="ctr"/>
          <a:lstStyle/>
          <a:p>
            <a:pPr indent="0" marL="0">
              <a:buNone/>
            </a:pPr>
            <a:r>
              <a:rPr lang="en-US" sz="1200" b="1" dirty="0">
                <a:solidFill>
                  <a:srgbClr val="00C9A7"/>
                </a:solidFill>
              </a:rPr>
              <a:t>Cloud persistence</a:t>
            </a:r>
            <a:endParaRPr lang="en-US" sz="1200" dirty="0"/>
          </a:p>
        </p:txBody>
      </p:sp>
      <p:sp>
        <p:nvSpPr>
          <p:cNvPr id="24" name="Text 22"/>
          <p:cNvSpPr/>
          <p:nvPr/>
        </p:nvSpPr>
        <p:spPr>
          <a:xfrm>
            <a:off x="4818888" y="3310128"/>
            <a:ext cx="4251960" cy="292608"/>
          </a:xfrm>
          <a:prstGeom prst="rect">
            <a:avLst/>
          </a:prstGeom>
          <a:noFill/>
          <a:ln/>
        </p:spPr>
        <p:txBody>
          <a:bodyPr wrap="square" lIns="0" tIns="0" rIns="0" bIns="0" rtlCol="0" anchor="ctr"/>
          <a:lstStyle/>
          <a:p>
            <a:pPr indent="0" marL="0">
              <a:buNone/>
            </a:pPr>
            <a:r>
              <a:rPr lang="en-US" sz="1000" dirty="0">
                <a:solidFill>
                  <a:srgbClr val="A8B2BB"/>
                </a:solidFill>
              </a:rPr>
              <a:t>Supabase PostgreSQL — every session saved</a:t>
            </a:r>
            <a:endParaRPr lang="en-US" sz="1000" dirty="0"/>
          </a:p>
        </p:txBody>
      </p:sp>
      <p:sp>
        <p:nvSpPr>
          <p:cNvPr id="25" name="Shape 23"/>
          <p:cNvSpPr/>
          <p:nvPr/>
        </p:nvSpPr>
        <p:spPr>
          <a:xfrm>
            <a:off x="365760" y="3767328"/>
            <a:ext cx="4160520" cy="621792"/>
          </a:xfrm>
          <a:prstGeom prst="rect">
            <a:avLst/>
          </a:prstGeom>
          <a:solidFill>
            <a:srgbClr val="162436"/>
          </a:solidFill>
          <a:ln w="12700">
            <a:solidFill>
              <a:srgbClr val="1A3A2E"/>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365760" y="3767328"/>
            <a:ext cx="54864" cy="621792"/>
          </a:xfrm>
          <a:prstGeom prst="rect">
            <a:avLst/>
          </a:prstGeom>
          <a:solidFill>
            <a:srgbClr val="00C9A7"/>
          </a:solidFill>
          <a:ln w="12700">
            <a:solidFill>
              <a:srgbClr val="00C9A7"/>
            </a:solidFill>
            <a:prstDash val="solid"/>
          </a:ln>
        </p:spPr>
      </p:sp>
      <p:sp>
        <p:nvSpPr>
          <p:cNvPr id="27" name="Text 25"/>
          <p:cNvSpPr/>
          <p:nvPr/>
        </p:nvSpPr>
        <p:spPr>
          <a:xfrm>
            <a:off x="475488" y="3803904"/>
            <a:ext cx="3977640" cy="237744"/>
          </a:xfrm>
          <a:prstGeom prst="rect">
            <a:avLst/>
          </a:prstGeom>
          <a:noFill/>
          <a:ln/>
        </p:spPr>
        <p:txBody>
          <a:bodyPr wrap="square" lIns="0" tIns="0" rIns="0" bIns="0" rtlCol="0" anchor="ctr"/>
          <a:lstStyle/>
          <a:p>
            <a:pPr indent="0" marL="0">
              <a:buNone/>
            </a:pPr>
            <a:r>
              <a:rPr lang="en-US" sz="1200" b="1" dirty="0">
                <a:solidFill>
                  <a:srgbClr val="00C9A7"/>
                </a:solidFill>
              </a:rPr>
              <a:t>LangGraph workflow</a:t>
            </a:r>
            <a:endParaRPr lang="en-US" sz="1200" dirty="0"/>
          </a:p>
        </p:txBody>
      </p:sp>
      <p:sp>
        <p:nvSpPr>
          <p:cNvPr id="28" name="Text 26"/>
          <p:cNvSpPr/>
          <p:nvPr/>
        </p:nvSpPr>
        <p:spPr>
          <a:xfrm>
            <a:off x="475488" y="4059936"/>
            <a:ext cx="3977640" cy="292608"/>
          </a:xfrm>
          <a:prstGeom prst="rect">
            <a:avLst/>
          </a:prstGeom>
          <a:noFill/>
          <a:ln/>
        </p:spPr>
        <p:txBody>
          <a:bodyPr wrap="square" lIns="0" tIns="0" rIns="0" bIns="0" rtlCol="0" anchor="ctr"/>
          <a:lstStyle/>
          <a:p>
            <a:pPr indent="0" marL="0">
              <a:buNone/>
            </a:pPr>
            <a:r>
              <a:rPr lang="en-US" sz="1000" dirty="0">
                <a:solidFill>
                  <a:srgbClr val="A8B2BB"/>
                </a:solidFill>
              </a:rPr>
              <a:t>Clean, extensible multi-node pipeline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56032"/>
            <a:ext cx="1463040" cy="256032"/>
          </a:xfrm>
          <a:prstGeom prst="roundRect">
            <a:avLst>
              <a:gd name="adj" fmla="val 17857"/>
            </a:avLst>
          </a:prstGeom>
          <a:solidFill>
            <a:srgbClr val="00C9A7">
              <a:alpha val="80000"/>
            </a:srgbClr>
          </a:solidFill>
          <a:ln w="12700">
            <a:solidFill>
              <a:srgbClr val="00C9A7"/>
            </a:solidFill>
            <a:prstDash val="solid"/>
          </a:ln>
        </p:spPr>
      </p:sp>
      <p:sp>
        <p:nvSpPr>
          <p:cNvPr id="3" name="Text 1"/>
          <p:cNvSpPr/>
          <p:nvPr/>
        </p:nvSpPr>
        <p:spPr>
          <a:xfrm>
            <a:off x="365760" y="256032"/>
            <a:ext cx="1463040" cy="256032"/>
          </a:xfrm>
          <a:prstGeom prst="rect">
            <a:avLst/>
          </a:prstGeom>
          <a:noFill/>
          <a:ln/>
        </p:spPr>
        <p:txBody>
          <a:bodyPr wrap="square" lIns="0" tIns="0" rIns="0" bIns="0" rtlCol="0" anchor="ctr"/>
          <a:lstStyle/>
          <a:p>
            <a:pPr algn="ctr" indent="0" marL="0">
              <a:buNone/>
            </a:pPr>
            <a:r>
              <a:rPr lang="en-US" sz="750" b="1" spc="150" kern="0" dirty="0">
                <a:solidFill>
                  <a:srgbClr val="FFFFFF"/>
                </a:solidFill>
              </a:rPr>
              <a:t>TECH STACK</a:t>
            </a:r>
            <a:endParaRPr lang="en-US" sz="750" dirty="0"/>
          </a:p>
        </p:txBody>
      </p:sp>
      <p:sp>
        <p:nvSpPr>
          <p:cNvPr id="4" name="Text 2"/>
          <p:cNvSpPr/>
          <p:nvPr/>
        </p:nvSpPr>
        <p:spPr>
          <a:xfrm>
            <a:off x="365760" y="658368"/>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Technology Stack</a:t>
            </a:r>
            <a:endParaRPr lang="en-US" sz="3000" dirty="0"/>
          </a:p>
        </p:txBody>
      </p:sp>
      <p:sp>
        <p:nvSpPr>
          <p:cNvPr id="5" name="Shape 3"/>
          <p:cNvSpPr/>
          <p:nvPr/>
        </p:nvSpPr>
        <p:spPr>
          <a:xfrm>
            <a:off x="365760" y="1188720"/>
            <a:ext cx="914400" cy="45720"/>
          </a:xfrm>
          <a:prstGeom prst="rect">
            <a:avLst/>
          </a:prstGeom>
          <a:solidFill>
            <a:srgbClr val="00C9A7"/>
          </a:solidFill>
          <a:ln w="12700">
            <a:solidFill>
              <a:srgbClr val="00C9A7"/>
            </a:solidFill>
            <a:prstDash val="solid"/>
          </a:ln>
        </p:spPr>
      </p:sp>
      <p:sp>
        <p:nvSpPr>
          <p:cNvPr id="6" name="Text 4"/>
          <p:cNvSpPr/>
          <p:nvPr/>
        </p:nvSpPr>
        <p:spPr>
          <a:xfrm>
            <a:off x="8229600" y="4800600"/>
            <a:ext cx="731520" cy="182880"/>
          </a:xfrm>
          <a:prstGeom prst="rect">
            <a:avLst/>
          </a:prstGeom>
          <a:noFill/>
          <a:ln/>
        </p:spPr>
        <p:txBody>
          <a:bodyPr wrap="square" lIns="0" tIns="0" rIns="0" bIns="0" rtlCol="0" anchor="ctr"/>
          <a:lstStyle/>
          <a:p>
            <a:pPr algn="r" indent="0" marL="0">
              <a:buNone/>
            </a:pPr>
            <a:r>
              <a:rPr lang="en-US" sz="900" dirty="0">
                <a:solidFill>
                  <a:srgbClr val="A8B2BB"/>
                </a:solidFill>
              </a:rPr>
              <a:t>4 / 10</a:t>
            </a:r>
            <a:endParaRPr lang="en-US" sz="900" dirty="0"/>
          </a:p>
        </p:txBody>
      </p:sp>
      <p:sp>
        <p:nvSpPr>
          <p:cNvPr id="7" name="Shape 5"/>
          <p:cNvSpPr/>
          <p:nvPr/>
        </p:nvSpPr>
        <p:spPr>
          <a:xfrm>
            <a:off x="365760" y="1325880"/>
            <a:ext cx="4114800" cy="841248"/>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365760" y="1325880"/>
            <a:ext cx="54864" cy="841248"/>
          </a:xfrm>
          <a:prstGeom prst="rect">
            <a:avLst/>
          </a:prstGeom>
          <a:solidFill>
            <a:srgbClr val="FF6B35"/>
          </a:solidFill>
          <a:ln w="12700">
            <a:solidFill>
              <a:srgbClr val="FF6B35"/>
            </a:solidFill>
            <a:prstDash val="solid"/>
          </a:ln>
        </p:spPr>
      </p:sp>
      <p:sp>
        <p:nvSpPr>
          <p:cNvPr id="9" name="Shape 7"/>
          <p:cNvSpPr/>
          <p:nvPr/>
        </p:nvSpPr>
        <p:spPr>
          <a:xfrm>
            <a:off x="530352" y="1490472"/>
            <a:ext cx="512064" cy="512064"/>
          </a:xfrm>
          <a:prstGeom prst="ellipse">
            <a:avLst/>
          </a:prstGeom>
          <a:solidFill>
            <a:srgbClr val="0D1B2A"/>
          </a:solidFill>
          <a:ln w="12700">
            <a:solidFill>
              <a:srgbClr val="FF6B35"/>
            </a:solidFill>
            <a:prstDash val="solid"/>
          </a:ln>
        </p:spPr>
      </p:sp>
      <p:sp>
        <p:nvSpPr>
          <p:cNvPr id="10" name="Text 8"/>
          <p:cNvSpPr/>
          <p:nvPr/>
        </p:nvSpPr>
        <p:spPr>
          <a:xfrm>
            <a:off x="530352" y="1490472"/>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1" name="Text 9"/>
          <p:cNvSpPr/>
          <p:nvPr/>
        </p:nvSpPr>
        <p:spPr>
          <a:xfrm>
            <a:off x="1152144" y="141732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Google Gemini 2.5-flash</a:t>
            </a:r>
            <a:endParaRPr lang="en-US" sz="1300" dirty="0"/>
          </a:p>
        </p:txBody>
      </p:sp>
      <p:sp>
        <p:nvSpPr>
          <p:cNvPr id="12" name="Text 10"/>
          <p:cNvSpPr/>
          <p:nvPr/>
        </p:nvSpPr>
        <p:spPr>
          <a:xfrm>
            <a:off x="1152144" y="1728216"/>
            <a:ext cx="3246120" cy="384048"/>
          </a:xfrm>
          <a:prstGeom prst="rect">
            <a:avLst/>
          </a:prstGeom>
          <a:noFill/>
          <a:ln/>
        </p:spPr>
        <p:txBody>
          <a:bodyPr wrap="square" lIns="0" tIns="0" rIns="0" bIns="0" rtlCol="0" anchor="ctr"/>
          <a:lstStyle/>
          <a:p>
            <a:pPr indent="0" marL="0">
              <a:buNone/>
            </a:pPr>
            <a:r>
              <a:rPr lang="en-US" sz="1000" dirty="0">
                <a:solidFill>
                  <a:srgbClr val="A8B2BB"/>
                </a:solidFill>
              </a:rPr>
              <a:t>Transcription, emotion detection, and empathetic AI responses in one API call</a:t>
            </a:r>
            <a:endParaRPr lang="en-US" sz="1000" dirty="0"/>
          </a:p>
        </p:txBody>
      </p:sp>
      <p:sp>
        <p:nvSpPr>
          <p:cNvPr id="13" name="Shape 11"/>
          <p:cNvSpPr/>
          <p:nvPr/>
        </p:nvSpPr>
        <p:spPr>
          <a:xfrm>
            <a:off x="365760" y="2331720"/>
            <a:ext cx="4114800" cy="841248"/>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365760" y="2331720"/>
            <a:ext cx="54864" cy="841248"/>
          </a:xfrm>
          <a:prstGeom prst="rect">
            <a:avLst/>
          </a:prstGeom>
          <a:solidFill>
            <a:srgbClr val="FF6B35"/>
          </a:solidFill>
          <a:ln w="12700">
            <a:solidFill>
              <a:srgbClr val="FF6B35"/>
            </a:solidFill>
            <a:prstDash val="solid"/>
          </a:ln>
        </p:spPr>
      </p:sp>
      <p:sp>
        <p:nvSpPr>
          <p:cNvPr id="15" name="Shape 13"/>
          <p:cNvSpPr/>
          <p:nvPr/>
        </p:nvSpPr>
        <p:spPr>
          <a:xfrm>
            <a:off x="530352" y="2496312"/>
            <a:ext cx="512064" cy="512064"/>
          </a:xfrm>
          <a:prstGeom prst="ellipse">
            <a:avLst/>
          </a:prstGeom>
          <a:solidFill>
            <a:srgbClr val="0D1B2A"/>
          </a:solidFill>
          <a:ln w="12700">
            <a:solidFill>
              <a:srgbClr val="FF6B35"/>
            </a:solidFill>
            <a:prstDash val="solid"/>
          </a:ln>
        </p:spPr>
      </p:sp>
      <p:sp>
        <p:nvSpPr>
          <p:cNvPr id="16" name="Text 14"/>
          <p:cNvSpPr/>
          <p:nvPr/>
        </p:nvSpPr>
        <p:spPr>
          <a:xfrm>
            <a:off x="530352" y="2496312"/>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7" name="Text 15"/>
          <p:cNvSpPr/>
          <p:nvPr/>
        </p:nvSpPr>
        <p:spPr>
          <a:xfrm>
            <a:off x="1152144" y="242316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LangGraph</a:t>
            </a:r>
            <a:endParaRPr lang="en-US" sz="1300" dirty="0"/>
          </a:p>
        </p:txBody>
      </p:sp>
      <p:sp>
        <p:nvSpPr>
          <p:cNvPr id="18" name="Text 16"/>
          <p:cNvSpPr/>
          <p:nvPr/>
        </p:nvSpPr>
        <p:spPr>
          <a:xfrm>
            <a:off x="1152144" y="2734056"/>
            <a:ext cx="3246120" cy="384048"/>
          </a:xfrm>
          <a:prstGeom prst="rect">
            <a:avLst/>
          </a:prstGeom>
          <a:noFill/>
          <a:ln/>
        </p:spPr>
        <p:txBody>
          <a:bodyPr wrap="square" lIns="0" tIns="0" rIns="0" bIns="0" rtlCol="0" anchor="ctr"/>
          <a:lstStyle/>
          <a:p>
            <a:pPr indent="0" marL="0">
              <a:buNone/>
            </a:pPr>
            <a:r>
              <a:rPr lang="en-US" sz="1000" dirty="0">
                <a:solidFill>
                  <a:srgbClr val="A8B2BB"/>
                </a:solidFill>
              </a:rPr>
              <a:t>Workflow orchestration — manages the step-by-step analysis pipeline graph</a:t>
            </a:r>
            <a:endParaRPr lang="en-US" sz="1000" dirty="0"/>
          </a:p>
        </p:txBody>
      </p:sp>
      <p:sp>
        <p:nvSpPr>
          <p:cNvPr id="19" name="Shape 17"/>
          <p:cNvSpPr/>
          <p:nvPr/>
        </p:nvSpPr>
        <p:spPr>
          <a:xfrm>
            <a:off x="365760" y="3337560"/>
            <a:ext cx="4114800" cy="841248"/>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365760" y="3337560"/>
            <a:ext cx="54864" cy="841248"/>
          </a:xfrm>
          <a:prstGeom prst="rect">
            <a:avLst/>
          </a:prstGeom>
          <a:solidFill>
            <a:srgbClr val="FF6B35"/>
          </a:solidFill>
          <a:ln w="12700">
            <a:solidFill>
              <a:srgbClr val="FF6B35"/>
            </a:solidFill>
            <a:prstDash val="solid"/>
          </a:ln>
        </p:spPr>
      </p:sp>
      <p:sp>
        <p:nvSpPr>
          <p:cNvPr id="21" name="Shape 19"/>
          <p:cNvSpPr/>
          <p:nvPr/>
        </p:nvSpPr>
        <p:spPr>
          <a:xfrm>
            <a:off x="530352" y="3502152"/>
            <a:ext cx="512064" cy="512064"/>
          </a:xfrm>
          <a:prstGeom prst="ellipse">
            <a:avLst/>
          </a:prstGeom>
          <a:solidFill>
            <a:srgbClr val="0D1B2A"/>
          </a:solidFill>
          <a:ln w="12700">
            <a:solidFill>
              <a:srgbClr val="FF6B35"/>
            </a:solidFill>
            <a:prstDash val="solid"/>
          </a:ln>
        </p:spPr>
      </p:sp>
      <p:sp>
        <p:nvSpPr>
          <p:cNvPr id="22" name="Text 20"/>
          <p:cNvSpPr/>
          <p:nvPr/>
        </p:nvSpPr>
        <p:spPr>
          <a:xfrm>
            <a:off x="530352" y="3502152"/>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3" name="Text 21"/>
          <p:cNvSpPr/>
          <p:nvPr/>
        </p:nvSpPr>
        <p:spPr>
          <a:xfrm>
            <a:off x="1152144" y="342900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Supabase</a:t>
            </a:r>
            <a:endParaRPr lang="en-US" sz="1300" dirty="0"/>
          </a:p>
        </p:txBody>
      </p:sp>
      <p:sp>
        <p:nvSpPr>
          <p:cNvPr id="24" name="Text 22"/>
          <p:cNvSpPr/>
          <p:nvPr/>
        </p:nvSpPr>
        <p:spPr>
          <a:xfrm>
            <a:off x="1152144" y="3739896"/>
            <a:ext cx="3246120" cy="384048"/>
          </a:xfrm>
          <a:prstGeom prst="rect">
            <a:avLst/>
          </a:prstGeom>
          <a:noFill/>
          <a:ln/>
        </p:spPr>
        <p:txBody>
          <a:bodyPr wrap="square" lIns="0" tIns="0" rIns="0" bIns="0" rtlCol="0" anchor="ctr"/>
          <a:lstStyle/>
          <a:p>
            <a:pPr indent="0" marL="0">
              <a:buNone/>
            </a:pPr>
            <a:r>
              <a:rPr lang="en-US" sz="1000" dirty="0">
                <a:solidFill>
                  <a:srgbClr val="A8B2BB"/>
                </a:solidFill>
              </a:rPr>
              <a:t>PostgreSQL cloud database — stores all conversation history with session IDs</a:t>
            </a:r>
            <a:endParaRPr lang="en-US" sz="1000" dirty="0"/>
          </a:p>
        </p:txBody>
      </p:sp>
      <p:sp>
        <p:nvSpPr>
          <p:cNvPr id="25" name="Shape 23"/>
          <p:cNvSpPr/>
          <p:nvPr/>
        </p:nvSpPr>
        <p:spPr>
          <a:xfrm>
            <a:off x="4846320" y="1325880"/>
            <a:ext cx="4114800" cy="841248"/>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846320" y="1325880"/>
            <a:ext cx="54864" cy="841248"/>
          </a:xfrm>
          <a:prstGeom prst="rect">
            <a:avLst/>
          </a:prstGeom>
          <a:solidFill>
            <a:srgbClr val="FF6B35"/>
          </a:solidFill>
          <a:ln w="12700">
            <a:solidFill>
              <a:srgbClr val="FF6B35"/>
            </a:solidFill>
            <a:prstDash val="solid"/>
          </a:ln>
        </p:spPr>
      </p:sp>
      <p:sp>
        <p:nvSpPr>
          <p:cNvPr id="27" name="Shape 25"/>
          <p:cNvSpPr/>
          <p:nvPr/>
        </p:nvSpPr>
        <p:spPr>
          <a:xfrm>
            <a:off x="5010912" y="1490472"/>
            <a:ext cx="512064" cy="512064"/>
          </a:xfrm>
          <a:prstGeom prst="ellipse">
            <a:avLst/>
          </a:prstGeom>
          <a:solidFill>
            <a:srgbClr val="0D1B2A"/>
          </a:solidFill>
          <a:ln w="12700">
            <a:solidFill>
              <a:srgbClr val="FF6B35"/>
            </a:solidFill>
            <a:prstDash val="solid"/>
          </a:ln>
        </p:spPr>
      </p:sp>
      <p:sp>
        <p:nvSpPr>
          <p:cNvPr id="28" name="Text 26"/>
          <p:cNvSpPr/>
          <p:nvPr/>
        </p:nvSpPr>
        <p:spPr>
          <a:xfrm>
            <a:off x="5010912" y="1490472"/>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9" name="Text 27"/>
          <p:cNvSpPr/>
          <p:nvPr/>
        </p:nvSpPr>
        <p:spPr>
          <a:xfrm>
            <a:off x="5632704" y="141732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sounddevice + soundfile</a:t>
            </a:r>
            <a:endParaRPr lang="en-US" sz="1300" dirty="0"/>
          </a:p>
        </p:txBody>
      </p:sp>
      <p:sp>
        <p:nvSpPr>
          <p:cNvPr id="30" name="Text 28"/>
          <p:cNvSpPr/>
          <p:nvPr/>
        </p:nvSpPr>
        <p:spPr>
          <a:xfrm>
            <a:off x="5632704" y="1728216"/>
            <a:ext cx="3246120" cy="384048"/>
          </a:xfrm>
          <a:prstGeom prst="rect">
            <a:avLst/>
          </a:prstGeom>
          <a:noFill/>
          <a:ln/>
        </p:spPr>
        <p:txBody>
          <a:bodyPr wrap="square" lIns="0" tIns="0" rIns="0" bIns="0" rtlCol="0" anchor="ctr"/>
          <a:lstStyle/>
          <a:p>
            <a:pPr indent="0" marL="0">
              <a:buNone/>
            </a:pPr>
            <a:r>
              <a:rPr lang="en-US" sz="1000" dirty="0">
                <a:solidFill>
                  <a:srgbClr val="A8B2BB"/>
                </a:solidFill>
              </a:rPr>
              <a:t>Microphone recording at 44,100 Hz and WAV file encoding / I/O</a:t>
            </a:r>
            <a:endParaRPr lang="en-US" sz="1000" dirty="0"/>
          </a:p>
        </p:txBody>
      </p:sp>
      <p:sp>
        <p:nvSpPr>
          <p:cNvPr id="31" name="Shape 29"/>
          <p:cNvSpPr/>
          <p:nvPr/>
        </p:nvSpPr>
        <p:spPr>
          <a:xfrm>
            <a:off x="4846320" y="2331720"/>
            <a:ext cx="4114800" cy="841248"/>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4846320" y="2331720"/>
            <a:ext cx="54864" cy="841248"/>
          </a:xfrm>
          <a:prstGeom prst="rect">
            <a:avLst/>
          </a:prstGeom>
          <a:solidFill>
            <a:srgbClr val="FF6B35"/>
          </a:solidFill>
          <a:ln w="12700">
            <a:solidFill>
              <a:srgbClr val="FF6B35"/>
            </a:solidFill>
            <a:prstDash val="solid"/>
          </a:ln>
        </p:spPr>
      </p:sp>
      <p:sp>
        <p:nvSpPr>
          <p:cNvPr id="33" name="Shape 31"/>
          <p:cNvSpPr/>
          <p:nvPr/>
        </p:nvSpPr>
        <p:spPr>
          <a:xfrm>
            <a:off x="5010912" y="2496312"/>
            <a:ext cx="512064" cy="512064"/>
          </a:xfrm>
          <a:prstGeom prst="ellipse">
            <a:avLst/>
          </a:prstGeom>
          <a:solidFill>
            <a:srgbClr val="0D1B2A"/>
          </a:solidFill>
          <a:ln w="12700">
            <a:solidFill>
              <a:srgbClr val="FF6B35"/>
            </a:solidFill>
            <a:prstDash val="solid"/>
          </a:ln>
        </p:spPr>
      </p:sp>
      <p:sp>
        <p:nvSpPr>
          <p:cNvPr id="34" name="Text 32"/>
          <p:cNvSpPr/>
          <p:nvPr/>
        </p:nvSpPr>
        <p:spPr>
          <a:xfrm>
            <a:off x="5010912" y="2496312"/>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5" name="Text 33"/>
          <p:cNvSpPr/>
          <p:nvPr/>
        </p:nvSpPr>
        <p:spPr>
          <a:xfrm>
            <a:off x="5632704" y="242316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Python + python-dotenv</a:t>
            </a:r>
            <a:endParaRPr lang="en-US" sz="1300" dirty="0"/>
          </a:p>
        </p:txBody>
      </p:sp>
      <p:sp>
        <p:nvSpPr>
          <p:cNvPr id="36" name="Text 34"/>
          <p:cNvSpPr/>
          <p:nvPr/>
        </p:nvSpPr>
        <p:spPr>
          <a:xfrm>
            <a:off x="5632704" y="2734056"/>
            <a:ext cx="3246120" cy="384048"/>
          </a:xfrm>
          <a:prstGeom prst="rect">
            <a:avLst/>
          </a:prstGeom>
          <a:noFill/>
          <a:ln/>
        </p:spPr>
        <p:txBody>
          <a:bodyPr wrap="square" lIns="0" tIns="0" rIns="0" bIns="0" rtlCol="0" anchor="ctr"/>
          <a:lstStyle/>
          <a:p>
            <a:pPr indent="0" marL="0">
              <a:buNone/>
            </a:pPr>
            <a:r>
              <a:rPr lang="en-US" sz="1000" dirty="0">
                <a:solidFill>
                  <a:srgbClr val="A8B2BB"/>
                </a:solidFill>
              </a:rPr>
              <a:t>Core language and secure API key management via .env files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56032"/>
            <a:ext cx="1463040" cy="256032"/>
          </a:xfrm>
          <a:prstGeom prst="roundRect">
            <a:avLst>
              <a:gd name="adj" fmla="val 17857"/>
            </a:avLst>
          </a:prstGeom>
          <a:solidFill>
            <a:srgbClr val="00C9A7">
              <a:alpha val="80000"/>
            </a:srgbClr>
          </a:solidFill>
          <a:ln w="12700">
            <a:solidFill>
              <a:srgbClr val="00C9A7"/>
            </a:solidFill>
            <a:prstDash val="solid"/>
          </a:ln>
        </p:spPr>
      </p:sp>
      <p:sp>
        <p:nvSpPr>
          <p:cNvPr id="3" name="Text 1"/>
          <p:cNvSpPr/>
          <p:nvPr/>
        </p:nvSpPr>
        <p:spPr>
          <a:xfrm>
            <a:off x="365760" y="256032"/>
            <a:ext cx="1463040" cy="256032"/>
          </a:xfrm>
          <a:prstGeom prst="rect">
            <a:avLst/>
          </a:prstGeom>
          <a:noFill/>
          <a:ln/>
        </p:spPr>
        <p:txBody>
          <a:bodyPr wrap="square" lIns="0" tIns="0" rIns="0" bIns="0" rtlCol="0" anchor="ctr"/>
          <a:lstStyle/>
          <a:p>
            <a:pPr algn="ctr" indent="0" marL="0">
              <a:buNone/>
            </a:pPr>
            <a:r>
              <a:rPr lang="en-US" sz="750" b="1" spc="150" kern="0" dirty="0">
                <a:solidFill>
                  <a:srgbClr val="FFFFFF"/>
                </a:solidFill>
              </a:rPr>
              <a:t>ARCHITECTURE</a:t>
            </a:r>
            <a:endParaRPr lang="en-US" sz="750" dirty="0"/>
          </a:p>
        </p:txBody>
      </p:sp>
      <p:sp>
        <p:nvSpPr>
          <p:cNvPr id="4" name="Text 2"/>
          <p:cNvSpPr/>
          <p:nvPr/>
        </p:nvSpPr>
        <p:spPr>
          <a:xfrm>
            <a:off x="365760" y="658368"/>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Text Pipeline</a:t>
            </a:r>
            <a:endParaRPr lang="en-US" sz="3000" dirty="0"/>
          </a:p>
        </p:txBody>
      </p:sp>
      <p:sp>
        <p:nvSpPr>
          <p:cNvPr id="5" name="Shape 3"/>
          <p:cNvSpPr/>
          <p:nvPr/>
        </p:nvSpPr>
        <p:spPr>
          <a:xfrm>
            <a:off x="365760" y="1188720"/>
            <a:ext cx="914400" cy="45720"/>
          </a:xfrm>
          <a:prstGeom prst="rect">
            <a:avLst/>
          </a:prstGeom>
          <a:solidFill>
            <a:srgbClr val="00C9A7"/>
          </a:solidFill>
          <a:ln w="12700">
            <a:solidFill>
              <a:srgbClr val="00C9A7"/>
            </a:solidFill>
            <a:prstDash val="solid"/>
          </a:ln>
        </p:spPr>
      </p:sp>
      <p:sp>
        <p:nvSpPr>
          <p:cNvPr id="6" name="Text 4"/>
          <p:cNvSpPr/>
          <p:nvPr/>
        </p:nvSpPr>
        <p:spPr>
          <a:xfrm>
            <a:off x="8229600" y="4800600"/>
            <a:ext cx="731520" cy="182880"/>
          </a:xfrm>
          <a:prstGeom prst="rect">
            <a:avLst/>
          </a:prstGeom>
          <a:noFill/>
          <a:ln/>
        </p:spPr>
        <p:txBody>
          <a:bodyPr wrap="square" lIns="0" tIns="0" rIns="0" bIns="0" rtlCol="0" anchor="ctr"/>
          <a:lstStyle/>
          <a:p>
            <a:pPr algn="r" indent="0" marL="0">
              <a:buNone/>
            </a:pPr>
            <a:r>
              <a:rPr lang="en-US" sz="900" dirty="0">
                <a:solidFill>
                  <a:srgbClr val="A8B2BB"/>
                </a:solidFill>
              </a:rPr>
              <a:t>5 / 10</a:t>
            </a:r>
            <a:endParaRPr lang="en-US" sz="900" dirty="0"/>
          </a:p>
        </p:txBody>
      </p:sp>
      <p:sp>
        <p:nvSpPr>
          <p:cNvPr id="7" name="Shape 5"/>
          <p:cNvSpPr/>
          <p:nvPr/>
        </p:nvSpPr>
        <p:spPr>
          <a:xfrm>
            <a:off x="315468" y="1417320"/>
            <a:ext cx="1417320" cy="822960"/>
          </a:xfrm>
          <a:prstGeom prst="rect">
            <a:avLst/>
          </a:prstGeom>
          <a:solidFill>
            <a:srgbClr val="162436"/>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315468" y="1417320"/>
            <a:ext cx="1417320" cy="64008"/>
          </a:xfrm>
          <a:prstGeom prst="rect">
            <a:avLst/>
          </a:prstGeom>
          <a:solidFill>
            <a:srgbClr val="00C9A7"/>
          </a:solidFill>
          <a:ln w="12700">
            <a:solidFill>
              <a:srgbClr val="00C9A7"/>
            </a:solidFill>
            <a:prstDash val="solid"/>
          </a:ln>
        </p:spPr>
      </p:sp>
      <p:sp>
        <p:nvSpPr>
          <p:cNvPr id="9" name="Text 7"/>
          <p:cNvSpPr/>
          <p:nvPr/>
        </p:nvSpPr>
        <p:spPr>
          <a:xfrm>
            <a:off x="370332" y="1508760"/>
            <a:ext cx="1307592" cy="384048"/>
          </a:xfrm>
          <a:prstGeom prst="rect">
            <a:avLst/>
          </a:prstGeom>
          <a:noFill/>
          <a:ln/>
        </p:spPr>
        <p:txBody>
          <a:bodyPr wrap="square" lIns="0" tIns="0" rIns="0" bIns="0" rtlCol="0" anchor="ctr"/>
          <a:lstStyle/>
          <a:p>
            <a:pPr algn="ctr" indent="0" marL="0">
              <a:buNone/>
            </a:pPr>
            <a:r>
              <a:rPr lang="en-US" sz="1100" b="1" dirty="0">
                <a:solidFill>
                  <a:srgbClr val="FFFFFF"/>
                </a:solidFill>
              </a:rPr>
              <a:t>User Input</a:t>
            </a:r>
            <a:endParaRPr lang="en-US" sz="1100" dirty="0"/>
          </a:p>
        </p:txBody>
      </p:sp>
      <p:sp>
        <p:nvSpPr>
          <p:cNvPr id="10" name="Text 8"/>
          <p:cNvSpPr/>
          <p:nvPr/>
        </p:nvSpPr>
        <p:spPr>
          <a:xfrm>
            <a:off x="370332" y="1892808"/>
            <a:ext cx="1307592" cy="310896"/>
          </a:xfrm>
          <a:prstGeom prst="rect">
            <a:avLst/>
          </a:prstGeom>
          <a:noFill/>
          <a:ln/>
        </p:spPr>
        <p:txBody>
          <a:bodyPr wrap="square" lIns="0" tIns="0" rIns="0" bIns="0" rtlCol="0" anchor="ctr"/>
          <a:lstStyle/>
          <a:p>
            <a:pPr algn="ctr" indent="0" marL="0">
              <a:buNone/>
            </a:pPr>
            <a:r>
              <a:rPr lang="en-US" sz="850" dirty="0">
                <a:solidFill>
                  <a:srgbClr val="A8B2BB"/>
                </a:solidFill>
              </a:rPr>
              <a:t>Types text</a:t>
            </a:r>
            <a:endParaRPr lang="en-US" sz="850" dirty="0"/>
          </a:p>
          <a:p>
            <a:pPr algn="ctr" indent="0" marL="0">
              <a:buNone/>
            </a:pPr>
            <a:r>
              <a:rPr lang="en-US" sz="850" dirty="0">
                <a:solidFill>
                  <a:srgbClr val="A8B2BB"/>
                </a:solidFill>
              </a:rPr>
              <a:t>in CLI</a:t>
            </a:r>
            <a:endParaRPr lang="en-US" sz="850" dirty="0"/>
          </a:p>
        </p:txBody>
      </p:sp>
      <p:sp>
        <p:nvSpPr>
          <p:cNvPr id="11" name="Shape 9"/>
          <p:cNvSpPr/>
          <p:nvPr/>
        </p:nvSpPr>
        <p:spPr>
          <a:xfrm>
            <a:off x="1769364" y="1792224"/>
            <a:ext cx="164592" cy="0"/>
          </a:xfrm>
          <a:prstGeom prst="line">
            <a:avLst/>
          </a:prstGeom>
          <a:noFill/>
          <a:ln w="19050">
            <a:solidFill>
              <a:srgbClr val="00C9A7"/>
            </a:solidFill>
            <a:prstDash val="solid"/>
          </a:ln>
        </p:spPr>
      </p:sp>
      <p:sp>
        <p:nvSpPr>
          <p:cNvPr id="12" name="Text 10"/>
          <p:cNvSpPr/>
          <p:nvPr/>
        </p:nvSpPr>
        <p:spPr>
          <a:xfrm>
            <a:off x="1860804" y="1682496"/>
            <a:ext cx="128016" cy="219456"/>
          </a:xfrm>
          <a:prstGeom prst="rect">
            <a:avLst/>
          </a:prstGeom>
          <a:noFill/>
          <a:ln/>
        </p:spPr>
        <p:txBody>
          <a:bodyPr wrap="square" lIns="0" tIns="0" rIns="0" bIns="0" rtlCol="0" anchor="ctr"/>
          <a:lstStyle/>
          <a:p>
            <a:pPr algn="ctr" indent="0" marL="0">
              <a:buNone/>
            </a:pPr>
            <a:r>
              <a:rPr lang="en-US" sz="1400" dirty="0">
                <a:solidFill>
                  <a:srgbClr val="00C9A7"/>
                </a:solidFill>
              </a:rPr>
              <a:t>›</a:t>
            </a:r>
            <a:endParaRPr lang="en-US" sz="1400" dirty="0"/>
          </a:p>
        </p:txBody>
      </p:sp>
      <p:sp>
        <p:nvSpPr>
          <p:cNvPr id="13" name="Shape 11"/>
          <p:cNvSpPr/>
          <p:nvPr/>
        </p:nvSpPr>
        <p:spPr>
          <a:xfrm>
            <a:off x="2089404" y="1417320"/>
            <a:ext cx="1417320" cy="822960"/>
          </a:xfrm>
          <a:prstGeom prst="rect">
            <a:avLst/>
          </a:prstGeom>
          <a:solidFill>
            <a:srgbClr val="162436"/>
          </a:solidFill>
          <a:ln w="12700">
            <a:solidFill>
              <a:srgbClr val="FF6B35"/>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2089404" y="1417320"/>
            <a:ext cx="1417320" cy="64008"/>
          </a:xfrm>
          <a:prstGeom prst="rect">
            <a:avLst/>
          </a:prstGeom>
          <a:solidFill>
            <a:srgbClr val="FF6B35"/>
          </a:solidFill>
          <a:ln w="12700">
            <a:solidFill>
              <a:srgbClr val="FF6B35"/>
            </a:solidFill>
            <a:prstDash val="solid"/>
          </a:ln>
        </p:spPr>
      </p:sp>
      <p:sp>
        <p:nvSpPr>
          <p:cNvPr id="15" name="Text 13"/>
          <p:cNvSpPr/>
          <p:nvPr/>
        </p:nvSpPr>
        <p:spPr>
          <a:xfrm>
            <a:off x="2144268" y="1508760"/>
            <a:ext cx="1307592" cy="384048"/>
          </a:xfrm>
          <a:prstGeom prst="rect">
            <a:avLst/>
          </a:prstGeom>
          <a:noFill/>
          <a:ln/>
        </p:spPr>
        <p:txBody>
          <a:bodyPr wrap="square" lIns="0" tIns="0" rIns="0" bIns="0" rtlCol="0" anchor="ctr"/>
          <a:lstStyle/>
          <a:p>
            <a:pPr algn="ctr" indent="0" marL="0">
              <a:buNone/>
            </a:pPr>
            <a:r>
              <a:rPr lang="en-US" sz="1100" b="1" dirty="0">
                <a:solidFill>
                  <a:srgbClr val="FFFFFF"/>
                </a:solidFill>
              </a:rPr>
              <a:t>main.py</a:t>
            </a:r>
            <a:endParaRPr lang="en-US" sz="1100" dirty="0"/>
          </a:p>
        </p:txBody>
      </p:sp>
      <p:sp>
        <p:nvSpPr>
          <p:cNvPr id="16" name="Text 14"/>
          <p:cNvSpPr/>
          <p:nvPr/>
        </p:nvSpPr>
        <p:spPr>
          <a:xfrm>
            <a:off x="2144268" y="1892808"/>
            <a:ext cx="1307592" cy="310896"/>
          </a:xfrm>
          <a:prstGeom prst="rect">
            <a:avLst/>
          </a:prstGeom>
          <a:noFill/>
          <a:ln/>
        </p:spPr>
        <p:txBody>
          <a:bodyPr wrap="square" lIns="0" tIns="0" rIns="0" bIns="0" rtlCol="0" anchor="ctr"/>
          <a:lstStyle/>
          <a:p>
            <a:pPr algn="ctr" indent="0" marL="0">
              <a:buNone/>
            </a:pPr>
            <a:r>
              <a:rPr lang="en-US" sz="850" dirty="0">
                <a:solidFill>
                  <a:srgbClr val="A8B2BB"/>
                </a:solidFill>
              </a:rPr>
              <a:t>Starts session</a:t>
            </a:r>
            <a:endParaRPr lang="en-US" sz="850" dirty="0"/>
          </a:p>
          <a:p>
            <a:pPr algn="ctr" indent="0" marL="0">
              <a:buNone/>
            </a:pPr>
            <a:r>
              <a:rPr lang="en-US" sz="850" dirty="0">
                <a:solidFill>
                  <a:srgbClr val="A8B2BB"/>
                </a:solidFill>
              </a:rPr>
              <a:t>+ UUID</a:t>
            </a:r>
            <a:endParaRPr lang="en-US" sz="850" dirty="0"/>
          </a:p>
        </p:txBody>
      </p:sp>
      <p:sp>
        <p:nvSpPr>
          <p:cNvPr id="17" name="Shape 15"/>
          <p:cNvSpPr/>
          <p:nvPr/>
        </p:nvSpPr>
        <p:spPr>
          <a:xfrm>
            <a:off x="3543300" y="1792224"/>
            <a:ext cx="164592" cy="0"/>
          </a:xfrm>
          <a:prstGeom prst="line">
            <a:avLst/>
          </a:prstGeom>
          <a:noFill/>
          <a:ln w="19050">
            <a:solidFill>
              <a:srgbClr val="00C9A7"/>
            </a:solidFill>
            <a:prstDash val="solid"/>
          </a:ln>
        </p:spPr>
      </p:sp>
      <p:sp>
        <p:nvSpPr>
          <p:cNvPr id="18" name="Text 16"/>
          <p:cNvSpPr/>
          <p:nvPr/>
        </p:nvSpPr>
        <p:spPr>
          <a:xfrm>
            <a:off x="3634740" y="1682496"/>
            <a:ext cx="128016" cy="219456"/>
          </a:xfrm>
          <a:prstGeom prst="rect">
            <a:avLst/>
          </a:prstGeom>
          <a:noFill/>
          <a:ln/>
        </p:spPr>
        <p:txBody>
          <a:bodyPr wrap="square" lIns="0" tIns="0" rIns="0" bIns="0" rtlCol="0" anchor="ctr"/>
          <a:lstStyle/>
          <a:p>
            <a:pPr algn="ctr" indent="0" marL="0">
              <a:buNone/>
            </a:pPr>
            <a:r>
              <a:rPr lang="en-US" sz="1400" dirty="0">
                <a:solidFill>
                  <a:srgbClr val="00C9A7"/>
                </a:solidFill>
              </a:rPr>
              <a:t>›</a:t>
            </a:r>
            <a:endParaRPr lang="en-US" sz="1400" dirty="0"/>
          </a:p>
        </p:txBody>
      </p:sp>
      <p:sp>
        <p:nvSpPr>
          <p:cNvPr id="19" name="Shape 17"/>
          <p:cNvSpPr/>
          <p:nvPr/>
        </p:nvSpPr>
        <p:spPr>
          <a:xfrm>
            <a:off x="3863340" y="1417320"/>
            <a:ext cx="1417320" cy="822960"/>
          </a:xfrm>
          <a:prstGeom prst="rect">
            <a:avLst/>
          </a:prstGeom>
          <a:solidFill>
            <a:srgbClr val="162436"/>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3863340" y="1417320"/>
            <a:ext cx="1417320" cy="64008"/>
          </a:xfrm>
          <a:prstGeom prst="rect">
            <a:avLst/>
          </a:prstGeom>
          <a:solidFill>
            <a:srgbClr val="00C9A7"/>
          </a:solidFill>
          <a:ln w="12700">
            <a:solidFill>
              <a:srgbClr val="00C9A7"/>
            </a:solidFill>
            <a:prstDash val="solid"/>
          </a:ln>
        </p:spPr>
      </p:sp>
      <p:sp>
        <p:nvSpPr>
          <p:cNvPr id="21" name="Text 19"/>
          <p:cNvSpPr/>
          <p:nvPr/>
        </p:nvSpPr>
        <p:spPr>
          <a:xfrm>
            <a:off x="3918204" y="1508760"/>
            <a:ext cx="1307592" cy="384048"/>
          </a:xfrm>
          <a:prstGeom prst="rect">
            <a:avLst/>
          </a:prstGeom>
          <a:noFill/>
          <a:ln/>
        </p:spPr>
        <p:txBody>
          <a:bodyPr wrap="square" lIns="0" tIns="0" rIns="0" bIns="0" rtlCol="0" anchor="ctr"/>
          <a:lstStyle/>
          <a:p>
            <a:pPr algn="ctr" indent="0" marL="0">
              <a:buNone/>
            </a:pPr>
            <a:r>
              <a:rPr lang="en-US" sz="1100" b="1" dirty="0">
                <a:solidFill>
                  <a:srgbClr val="FFFFFF"/>
                </a:solidFill>
              </a:rPr>
              <a:t>LangGraph</a:t>
            </a:r>
            <a:endParaRPr lang="en-US" sz="1100" dirty="0"/>
          </a:p>
          <a:p>
            <a:pPr algn="ctr" indent="0" marL="0">
              <a:buNone/>
            </a:pPr>
            <a:r>
              <a:rPr lang="en-US" sz="1100" b="1" dirty="0">
                <a:solidFill>
                  <a:srgbClr val="FFFFFF"/>
                </a:solidFill>
              </a:rPr>
              <a:t>text_graph</a:t>
            </a:r>
            <a:endParaRPr lang="en-US" sz="1100" dirty="0"/>
          </a:p>
        </p:txBody>
      </p:sp>
      <p:sp>
        <p:nvSpPr>
          <p:cNvPr id="22" name="Text 20"/>
          <p:cNvSpPr/>
          <p:nvPr/>
        </p:nvSpPr>
        <p:spPr>
          <a:xfrm>
            <a:off x="3918204" y="1892808"/>
            <a:ext cx="1307592" cy="310896"/>
          </a:xfrm>
          <a:prstGeom prst="rect">
            <a:avLst/>
          </a:prstGeom>
          <a:noFill/>
          <a:ln/>
        </p:spPr>
        <p:txBody>
          <a:bodyPr wrap="square" lIns="0" tIns="0" rIns="0" bIns="0" rtlCol="0" anchor="ctr"/>
          <a:lstStyle/>
          <a:p>
            <a:pPr algn="ctr" indent="0" marL="0">
              <a:buNone/>
            </a:pPr>
            <a:r>
              <a:rPr lang="en-US" sz="850" dirty="0">
                <a:solidFill>
                  <a:srgbClr val="A8B2BB"/>
                </a:solidFill>
              </a:rPr>
              <a:t>Orchestrates</a:t>
            </a:r>
            <a:endParaRPr lang="en-US" sz="850" dirty="0"/>
          </a:p>
          <a:p>
            <a:pPr algn="ctr" indent="0" marL="0">
              <a:buNone/>
            </a:pPr>
            <a:r>
              <a:rPr lang="en-US" sz="850" dirty="0">
                <a:solidFill>
                  <a:srgbClr val="A8B2BB"/>
                </a:solidFill>
              </a:rPr>
              <a:t>workflow</a:t>
            </a:r>
            <a:endParaRPr lang="en-US" sz="850" dirty="0"/>
          </a:p>
        </p:txBody>
      </p:sp>
      <p:sp>
        <p:nvSpPr>
          <p:cNvPr id="23" name="Shape 21"/>
          <p:cNvSpPr/>
          <p:nvPr/>
        </p:nvSpPr>
        <p:spPr>
          <a:xfrm>
            <a:off x="5317236" y="1792224"/>
            <a:ext cx="164592" cy="0"/>
          </a:xfrm>
          <a:prstGeom prst="line">
            <a:avLst/>
          </a:prstGeom>
          <a:noFill/>
          <a:ln w="19050">
            <a:solidFill>
              <a:srgbClr val="00C9A7"/>
            </a:solidFill>
            <a:prstDash val="solid"/>
          </a:ln>
        </p:spPr>
      </p:sp>
      <p:sp>
        <p:nvSpPr>
          <p:cNvPr id="24" name="Text 22"/>
          <p:cNvSpPr/>
          <p:nvPr/>
        </p:nvSpPr>
        <p:spPr>
          <a:xfrm>
            <a:off x="5408676" y="1682496"/>
            <a:ext cx="128016" cy="219456"/>
          </a:xfrm>
          <a:prstGeom prst="rect">
            <a:avLst/>
          </a:prstGeom>
          <a:noFill/>
          <a:ln/>
        </p:spPr>
        <p:txBody>
          <a:bodyPr wrap="square" lIns="0" tIns="0" rIns="0" bIns="0" rtlCol="0" anchor="ctr"/>
          <a:lstStyle/>
          <a:p>
            <a:pPr algn="ctr" indent="0" marL="0">
              <a:buNone/>
            </a:pPr>
            <a:r>
              <a:rPr lang="en-US" sz="1400" dirty="0">
                <a:solidFill>
                  <a:srgbClr val="00C9A7"/>
                </a:solidFill>
              </a:rPr>
              <a:t>›</a:t>
            </a:r>
            <a:endParaRPr lang="en-US" sz="1400" dirty="0"/>
          </a:p>
        </p:txBody>
      </p:sp>
      <p:sp>
        <p:nvSpPr>
          <p:cNvPr id="25" name="Shape 23"/>
          <p:cNvSpPr/>
          <p:nvPr/>
        </p:nvSpPr>
        <p:spPr>
          <a:xfrm>
            <a:off x="5637276" y="1417320"/>
            <a:ext cx="1417320" cy="822960"/>
          </a:xfrm>
          <a:prstGeom prst="rect">
            <a:avLst/>
          </a:prstGeom>
          <a:solidFill>
            <a:srgbClr val="162436"/>
          </a:solidFill>
          <a:ln w="12700">
            <a:solidFill>
              <a:srgbClr val="FF6B35"/>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5637276" y="1417320"/>
            <a:ext cx="1417320" cy="64008"/>
          </a:xfrm>
          <a:prstGeom prst="rect">
            <a:avLst/>
          </a:prstGeom>
          <a:solidFill>
            <a:srgbClr val="FF6B35"/>
          </a:solidFill>
          <a:ln w="12700">
            <a:solidFill>
              <a:srgbClr val="FF6B35"/>
            </a:solidFill>
            <a:prstDash val="solid"/>
          </a:ln>
        </p:spPr>
      </p:sp>
      <p:sp>
        <p:nvSpPr>
          <p:cNvPr id="27" name="Text 25"/>
          <p:cNvSpPr/>
          <p:nvPr/>
        </p:nvSpPr>
        <p:spPr>
          <a:xfrm>
            <a:off x="5692140" y="1508760"/>
            <a:ext cx="1307592" cy="384048"/>
          </a:xfrm>
          <a:prstGeom prst="rect">
            <a:avLst/>
          </a:prstGeom>
          <a:noFill/>
          <a:ln/>
        </p:spPr>
        <p:txBody>
          <a:bodyPr wrap="square" lIns="0" tIns="0" rIns="0" bIns="0" rtlCol="0" anchor="ctr"/>
          <a:lstStyle/>
          <a:p>
            <a:pPr algn="ctr" indent="0" marL="0">
              <a:buNone/>
            </a:pPr>
            <a:r>
              <a:rPr lang="en-US" sz="1100" b="1" dirty="0">
                <a:solidFill>
                  <a:srgbClr val="FFFFFF"/>
                </a:solidFill>
              </a:rPr>
              <a:t>analyze_node</a:t>
            </a:r>
            <a:endParaRPr lang="en-US" sz="1100" dirty="0"/>
          </a:p>
          <a:p>
            <a:pPr algn="ctr" indent="0" marL="0">
              <a:buNone/>
            </a:pPr>
            <a:r>
              <a:rPr lang="en-US" sz="1100" b="1" dirty="0">
                <a:solidFill>
                  <a:srgbClr val="FFFFFF"/>
                </a:solidFill>
              </a:rPr>
              <a:t>(Gemini API)</a:t>
            </a:r>
            <a:endParaRPr lang="en-US" sz="1100" dirty="0"/>
          </a:p>
        </p:txBody>
      </p:sp>
      <p:sp>
        <p:nvSpPr>
          <p:cNvPr id="28" name="Text 26"/>
          <p:cNvSpPr/>
          <p:nvPr/>
        </p:nvSpPr>
        <p:spPr>
          <a:xfrm>
            <a:off x="5692140" y="1892808"/>
            <a:ext cx="1307592" cy="310896"/>
          </a:xfrm>
          <a:prstGeom prst="rect">
            <a:avLst/>
          </a:prstGeom>
          <a:noFill/>
          <a:ln/>
        </p:spPr>
        <p:txBody>
          <a:bodyPr wrap="square" lIns="0" tIns="0" rIns="0" bIns="0" rtlCol="0" anchor="ctr"/>
          <a:lstStyle/>
          <a:p>
            <a:pPr algn="ctr" indent="0" marL="0">
              <a:buNone/>
            </a:pPr>
            <a:r>
              <a:rPr lang="en-US" sz="850" dirty="0">
                <a:solidFill>
                  <a:srgbClr val="A8B2BB"/>
                </a:solidFill>
              </a:rPr>
              <a:t>Returns emotion</a:t>
            </a:r>
            <a:endParaRPr lang="en-US" sz="850" dirty="0"/>
          </a:p>
          <a:p>
            <a:pPr algn="ctr" indent="0" marL="0">
              <a:buNone/>
            </a:pPr>
            <a:r>
              <a:rPr lang="en-US" sz="850" dirty="0">
                <a:solidFill>
                  <a:srgbClr val="A8B2BB"/>
                </a:solidFill>
              </a:rPr>
              <a:t>+ CASEL + reply</a:t>
            </a:r>
            <a:endParaRPr lang="en-US" sz="850" dirty="0"/>
          </a:p>
        </p:txBody>
      </p:sp>
      <p:sp>
        <p:nvSpPr>
          <p:cNvPr id="29" name="Shape 27"/>
          <p:cNvSpPr/>
          <p:nvPr/>
        </p:nvSpPr>
        <p:spPr>
          <a:xfrm>
            <a:off x="7091172" y="1792224"/>
            <a:ext cx="164592" cy="0"/>
          </a:xfrm>
          <a:prstGeom prst="line">
            <a:avLst/>
          </a:prstGeom>
          <a:noFill/>
          <a:ln w="19050">
            <a:solidFill>
              <a:srgbClr val="00C9A7"/>
            </a:solidFill>
            <a:prstDash val="solid"/>
          </a:ln>
        </p:spPr>
      </p:sp>
      <p:sp>
        <p:nvSpPr>
          <p:cNvPr id="30" name="Text 28"/>
          <p:cNvSpPr/>
          <p:nvPr/>
        </p:nvSpPr>
        <p:spPr>
          <a:xfrm>
            <a:off x="7182612" y="1682496"/>
            <a:ext cx="128016" cy="219456"/>
          </a:xfrm>
          <a:prstGeom prst="rect">
            <a:avLst/>
          </a:prstGeom>
          <a:noFill/>
          <a:ln/>
        </p:spPr>
        <p:txBody>
          <a:bodyPr wrap="square" lIns="0" tIns="0" rIns="0" bIns="0" rtlCol="0" anchor="ctr"/>
          <a:lstStyle/>
          <a:p>
            <a:pPr algn="ctr" indent="0" marL="0">
              <a:buNone/>
            </a:pPr>
            <a:r>
              <a:rPr lang="en-US" sz="1400" dirty="0">
                <a:solidFill>
                  <a:srgbClr val="00C9A7"/>
                </a:solidFill>
              </a:rPr>
              <a:t>›</a:t>
            </a:r>
            <a:endParaRPr lang="en-US" sz="1400" dirty="0"/>
          </a:p>
        </p:txBody>
      </p:sp>
      <p:sp>
        <p:nvSpPr>
          <p:cNvPr id="31" name="Shape 29"/>
          <p:cNvSpPr/>
          <p:nvPr/>
        </p:nvSpPr>
        <p:spPr>
          <a:xfrm>
            <a:off x="7411212" y="1417320"/>
            <a:ext cx="1417320" cy="822960"/>
          </a:xfrm>
          <a:prstGeom prst="rect">
            <a:avLst/>
          </a:prstGeom>
          <a:solidFill>
            <a:srgbClr val="162436"/>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7411212" y="1417320"/>
            <a:ext cx="1417320" cy="64008"/>
          </a:xfrm>
          <a:prstGeom prst="rect">
            <a:avLst/>
          </a:prstGeom>
          <a:solidFill>
            <a:srgbClr val="00C9A7"/>
          </a:solidFill>
          <a:ln w="12700">
            <a:solidFill>
              <a:srgbClr val="00C9A7"/>
            </a:solidFill>
            <a:prstDash val="solid"/>
          </a:ln>
        </p:spPr>
      </p:sp>
      <p:sp>
        <p:nvSpPr>
          <p:cNvPr id="33" name="Text 31"/>
          <p:cNvSpPr/>
          <p:nvPr/>
        </p:nvSpPr>
        <p:spPr>
          <a:xfrm>
            <a:off x="7466076" y="1508760"/>
            <a:ext cx="1307592" cy="384048"/>
          </a:xfrm>
          <a:prstGeom prst="rect">
            <a:avLst/>
          </a:prstGeom>
          <a:noFill/>
          <a:ln/>
        </p:spPr>
        <p:txBody>
          <a:bodyPr wrap="square" lIns="0" tIns="0" rIns="0" bIns="0" rtlCol="0" anchor="ctr"/>
          <a:lstStyle/>
          <a:p>
            <a:pPr algn="ctr" indent="0" marL="0">
              <a:buNone/>
            </a:pPr>
            <a:r>
              <a:rPr lang="en-US" sz="1100" b="1" dirty="0">
                <a:solidFill>
                  <a:srgbClr val="FFFFFF"/>
                </a:solidFill>
              </a:rPr>
              <a:t>save_node</a:t>
            </a:r>
            <a:endParaRPr lang="en-US" sz="1100" dirty="0"/>
          </a:p>
          <a:p>
            <a:pPr algn="ctr" indent="0" marL="0">
              <a:buNone/>
            </a:pPr>
            <a:r>
              <a:rPr lang="en-US" sz="1100" b="1" dirty="0">
                <a:solidFill>
                  <a:srgbClr val="FFFFFF"/>
                </a:solidFill>
              </a:rPr>
              <a:t>(Supabase)</a:t>
            </a:r>
            <a:endParaRPr lang="en-US" sz="1100" dirty="0"/>
          </a:p>
        </p:txBody>
      </p:sp>
      <p:sp>
        <p:nvSpPr>
          <p:cNvPr id="34" name="Text 32"/>
          <p:cNvSpPr/>
          <p:nvPr/>
        </p:nvSpPr>
        <p:spPr>
          <a:xfrm>
            <a:off x="7466076" y="1892808"/>
            <a:ext cx="1307592" cy="310896"/>
          </a:xfrm>
          <a:prstGeom prst="rect">
            <a:avLst/>
          </a:prstGeom>
          <a:noFill/>
          <a:ln/>
        </p:spPr>
        <p:txBody>
          <a:bodyPr wrap="square" lIns="0" tIns="0" rIns="0" bIns="0" rtlCol="0" anchor="ctr"/>
          <a:lstStyle/>
          <a:p>
            <a:pPr algn="ctr" indent="0" marL="0">
              <a:buNone/>
            </a:pPr>
            <a:r>
              <a:rPr lang="en-US" sz="850" dirty="0">
                <a:solidFill>
                  <a:srgbClr val="A8B2BB"/>
                </a:solidFill>
              </a:rPr>
              <a:t>Persists row</a:t>
            </a:r>
            <a:endParaRPr lang="en-US" sz="850" dirty="0"/>
          </a:p>
          <a:p>
            <a:pPr algn="ctr" indent="0" marL="0">
              <a:buNone/>
            </a:pPr>
            <a:r>
              <a:rPr lang="en-US" sz="850" dirty="0">
                <a:solidFill>
                  <a:srgbClr val="A8B2BB"/>
                </a:solidFill>
              </a:rPr>
              <a:t>to DB</a:t>
            </a:r>
            <a:endParaRPr lang="en-US" sz="850" dirty="0"/>
          </a:p>
        </p:txBody>
      </p:sp>
      <p:sp>
        <p:nvSpPr>
          <p:cNvPr id="35" name="Shape 33"/>
          <p:cNvSpPr/>
          <p:nvPr/>
        </p:nvSpPr>
        <p:spPr>
          <a:xfrm>
            <a:off x="548640" y="2487168"/>
            <a:ext cx="8046720" cy="914400"/>
          </a:xfrm>
          <a:prstGeom prst="rect">
            <a:avLst/>
          </a:prstGeom>
          <a:solidFill>
            <a:srgbClr val="091520"/>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36" name="Shape 34"/>
          <p:cNvSpPr/>
          <p:nvPr/>
        </p:nvSpPr>
        <p:spPr>
          <a:xfrm>
            <a:off x="548640" y="2487168"/>
            <a:ext cx="64008" cy="914400"/>
          </a:xfrm>
          <a:prstGeom prst="rect">
            <a:avLst/>
          </a:prstGeom>
          <a:solidFill>
            <a:srgbClr val="00C9A7"/>
          </a:solidFill>
          <a:ln w="12700">
            <a:solidFill>
              <a:srgbClr val="00C9A7"/>
            </a:solidFill>
            <a:prstDash val="solid"/>
          </a:ln>
        </p:spPr>
      </p:sp>
      <p:sp>
        <p:nvSpPr>
          <p:cNvPr id="37" name="Text 35"/>
          <p:cNvSpPr/>
          <p:nvPr/>
        </p:nvSpPr>
        <p:spPr>
          <a:xfrm>
            <a:off x="749808" y="2542032"/>
            <a:ext cx="7498080" cy="804672"/>
          </a:xfrm>
          <a:prstGeom prst="rect">
            <a:avLst/>
          </a:prstGeom>
          <a:noFill/>
          <a:ln/>
        </p:spPr>
        <p:txBody>
          <a:bodyPr wrap="square" lIns="0" tIns="0" rIns="0" bIns="0" rtlCol="0" anchor="ctr"/>
          <a:lstStyle/>
          <a:p>
            <a:pPr algn="l" indent="0" marL="0">
              <a:buNone/>
            </a:pPr>
            <a:r>
              <a:rPr lang="en-US" sz="1200" b="1" dirty="0">
                <a:solidFill>
                  <a:srgbClr val="00C9A7"/>
                </a:solidFill>
                <a:latin typeface="Calibri" pitchFamily="34" charset="0"/>
                <a:ea typeface="Calibri" pitchFamily="34" charset="-122"/>
                <a:cs typeface="Calibri" pitchFamily="34" charset="-120"/>
              </a:rPr>
              <a:t xml:space="preserve">Key Details  </a:t>
            </a:r>
            <a:pPr algn="l" indent="0" marL="0">
              <a:buNone/>
            </a:pPr>
            <a:r>
              <a:rPr lang="en-US" sz="1200" dirty="0">
                <a:solidFill>
                  <a:srgbClr val="A8B2BB"/>
                </a:solidFill>
                <a:latin typeface="Calibri" pitchFamily="34" charset="0"/>
                <a:ea typeface="Calibri" pitchFamily="34" charset="-122"/>
                <a:cs typeface="Calibri" pitchFamily="34" charset="-120"/>
              </a:rPr>
              <a:t>analyze_emotion() sends a structured JSON prompt to Gemini   ·   Returns: emotion, casel_competency, response   ·   All data saved with session_id for history tracking</a:t>
            </a:r>
            <a:endParaRPr lang="en-US" sz="1200" dirty="0"/>
          </a:p>
        </p:txBody>
      </p:sp>
      <p:sp>
        <p:nvSpPr>
          <p:cNvPr id="38" name="Text 36"/>
          <p:cNvSpPr/>
          <p:nvPr/>
        </p:nvSpPr>
        <p:spPr>
          <a:xfrm>
            <a:off x="457200" y="3657600"/>
            <a:ext cx="8229600" cy="329184"/>
          </a:xfrm>
          <a:prstGeom prst="rect">
            <a:avLst/>
          </a:prstGeom>
          <a:noFill/>
          <a:ln/>
        </p:spPr>
        <p:txBody>
          <a:bodyPr wrap="square" lIns="0" tIns="0" rIns="0" bIns="0" rtlCol="0" anchor="ctr"/>
          <a:lstStyle/>
          <a:p>
            <a:pPr algn="ctr" indent="0" marL="0">
              <a:buNone/>
            </a:pPr>
            <a:r>
              <a:rPr lang="en-US" sz="1350" b="1" dirty="0">
                <a:solidFill>
                  <a:srgbClr val="00C9A7"/>
                </a:solidFill>
              </a:rPr>
              <a:t>Output →  Emotion · CASEL Competency · AI Response</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56032"/>
            <a:ext cx="1463040" cy="256032"/>
          </a:xfrm>
          <a:prstGeom prst="roundRect">
            <a:avLst>
              <a:gd name="adj" fmla="val 17857"/>
            </a:avLst>
          </a:prstGeom>
          <a:solidFill>
            <a:srgbClr val="00C9A7">
              <a:alpha val="80000"/>
            </a:srgbClr>
          </a:solidFill>
          <a:ln w="12700">
            <a:solidFill>
              <a:srgbClr val="00C9A7"/>
            </a:solidFill>
            <a:prstDash val="solid"/>
          </a:ln>
        </p:spPr>
      </p:sp>
      <p:sp>
        <p:nvSpPr>
          <p:cNvPr id="3" name="Text 1"/>
          <p:cNvSpPr/>
          <p:nvPr/>
        </p:nvSpPr>
        <p:spPr>
          <a:xfrm>
            <a:off x="365760" y="256032"/>
            <a:ext cx="1463040" cy="256032"/>
          </a:xfrm>
          <a:prstGeom prst="rect">
            <a:avLst/>
          </a:prstGeom>
          <a:noFill/>
          <a:ln/>
        </p:spPr>
        <p:txBody>
          <a:bodyPr wrap="square" lIns="0" tIns="0" rIns="0" bIns="0" rtlCol="0" anchor="ctr"/>
          <a:lstStyle/>
          <a:p>
            <a:pPr algn="ctr" indent="0" marL="0">
              <a:buNone/>
            </a:pPr>
            <a:r>
              <a:rPr lang="en-US" sz="750" b="1" spc="150" kern="0" dirty="0">
                <a:solidFill>
                  <a:srgbClr val="FFFFFF"/>
                </a:solidFill>
              </a:rPr>
              <a:t>ARCHITECTURE</a:t>
            </a:r>
            <a:endParaRPr lang="en-US" sz="750" dirty="0"/>
          </a:p>
        </p:txBody>
      </p:sp>
      <p:sp>
        <p:nvSpPr>
          <p:cNvPr id="4" name="Text 2"/>
          <p:cNvSpPr/>
          <p:nvPr/>
        </p:nvSpPr>
        <p:spPr>
          <a:xfrm>
            <a:off x="365760" y="658368"/>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Voice Pipeline</a:t>
            </a:r>
            <a:endParaRPr lang="en-US" sz="3000" dirty="0"/>
          </a:p>
        </p:txBody>
      </p:sp>
      <p:sp>
        <p:nvSpPr>
          <p:cNvPr id="5" name="Shape 3"/>
          <p:cNvSpPr/>
          <p:nvPr/>
        </p:nvSpPr>
        <p:spPr>
          <a:xfrm>
            <a:off x="365760" y="1188720"/>
            <a:ext cx="914400" cy="45720"/>
          </a:xfrm>
          <a:prstGeom prst="rect">
            <a:avLst/>
          </a:prstGeom>
          <a:solidFill>
            <a:srgbClr val="00C9A7"/>
          </a:solidFill>
          <a:ln w="12700">
            <a:solidFill>
              <a:srgbClr val="00C9A7"/>
            </a:solidFill>
            <a:prstDash val="solid"/>
          </a:ln>
        </p:spPr>
      </p:sp>
      <p:sp>
        <p:nvSpPr>
          <p:cNvPr id="6" name="Text 4"/>
          <p:cNvSpPr/>
          <p:nvPr/>
        </p:nvSpPr>
        <p:spPr>
          <a:xfrm>
            <a:off x="8229600" y="4800600"/>
            <a:ext cx="731520" cy="182880"/>
          </a:xfrm>
          <a:prstGeom prst="rect">
            <a:avLst/>
          </a:prstGeom>
          <a:noFill/>
          <a:ln/>
        </p:spPr>
        <p:txBody>
          <a:bodyPr wrap="square" lIns="0" tIns="0" rIns="0" bIns="0" rtlCol="0" anchor="ctr"/>
          <a:lstStyle/>
          <a:p>
            <a:pPr algn="r" indent="0" marL="0">
              <a:buNone/>
            </a:pPr>
            <a:r>
              <a:rPr lang="en-US" sz="900" dirty="0">
                <a:solidFill>
                  <a:srgbClr val="A8B2BB"/>
                </a:solidFill>
              </a:rPr>
              <a:t>6 / 10</a:t>
            </a:r>
            <a:endParaRPr lang="en-US" sz="900" dirty="0"/>
          </a:p>
        </p:txBody>
      </p:sp>
      <p:sp>
        <p:nvSpPr>
          <p:cNvPr id="7" name="Shape 5"/>
          <p:cNvSpPr/>
          <p:nvPr/>
        </p:nvSpPr>
        <p:spPr>
          <a:xfrm>
            <a:off x="315468" y="1417320"/>
            <a:ext cx="1417320" cy="822960"/>
          </a:xfrm>
          <a:prstGeom prst="rect">
            <a:avLst/>
          </a:prstGeom>
          <a:solidFill>
            <a:srgbClr val="162436"/>
          </a:solidFill>
          <a:ln w="12700">
            <a:solidFill>
              <a:srgbClr val="FF6B35"/>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315468" y="1417320"/>
            <a:ext cx="1417320" cy="64008"/>
          </a:xfrm>
          <a:prstGeom prst="rect">
            <a:avLst/>
          </a:prstGeom>
          <a:solidFill>
            <a:srgbClr val="FF6B35"/>
          </a:solidFill>
          <a:ln w="12700">
            <a:solidFill>
              <a:srgbClr val="FF6B35"/>
            </a:solidFill>
            <a:prstDash val="solid"/>
          </a:ln>
        </p:spPr>
      </p:sp>
      <p:sp>
        <p:nvSpPr>
          <p:cNvPr id="9" name="Text 7"/>
          <p:cNvSpPr/>
          <p:nvPr/>
        </p:nvSpPr>
        <p:spPr>
          <a:xfrm>
            <a:off x="370332" y="1508760"/>
            <a:ext cx="1307592" cy="384048"/>
          </a:xfrm>
          <a:prstGeom prst="rect">
            <a:avLst/>
          </a:prstGeom>
          <a:noFill/>
          <a:ln/>
        </p:spPr>
        <p:txBody>
          <a:bodyPr wrap="square" lIns="0" tIns="0" rIns="0" bIns="0" rtlCol="0" anchor="ctr"/>
          <a:lstStyle/>
          <a:p>
            <a:pPr algn="ctr" indent="0" marL="0">
              <a:buNone/>
            </a:pPr>
            <a:r>
              <a:rPr lang="en-US" sz="1100" b="1" dirty="0">
                <a:solidFill>
                  <a:srgbClr val="FFFFFF"/>
                </a:solidFill>
              </a:rPr>
              <a:t>Microphone</a:t>
            </a:r>
            <a:endParaRPr lang="en-US" sz="1100" dirty="0"/>
          </a:p>
        </p:txBody>
      </p:sp>
      <p:sp>
        <p:nvSpPr>
          <p:cNvPr id="10" name="Text 8"/>
          <p:cNvSpPr/>
          <p:nvPr/>
        </p:nvSpPr>
        <p:spPr>
          <a:xfrm>
            <a:off x="370332" y="1892808"/>
            <a:ext cx="1307592" cy="310896"/>
          </a:xfrm>
          <a:prstGeom prst="rect">
            <a:avLst/>
          </a:prstGeom>
          <a:noFill/>
          <a:ln/>
        </p:spPr>
        <p:txBody>
          <a:bodyPr wrap="square" lIns="0" tIns="0" rIns="0" bIns="0" rtlCol="0" anchor="ctr"/>
          <a:lstStyle/>
          <a:p>
            <a:pPr algn="ctr" indent="0" marL="0">
              <a:buNone/>
            </a:pPr>
            <a:r>
              <a:rPr lang="en-US" sz="850" dirty="0">
                <a:solidFill>
                  <a:srgbClr val="A8B2BB"/>
                </a:solidFill>
              </a:rPr>
              <a:t>User speaks</a:t>
            </a:r>
            <a:endParaRPr lang="en-US" sz="850" dirty="0"/>
          </a:p>
          <a:p>
            <a:pPr algn="ctr" indent="0" marL="0">
              <a:buNone/>
            </a:pPr>
            <a:r>
              <a:rPr lang="en-US" sz="850" dirty="0">
                <a:solidFill>
                  <a:srgbClr val="A8B2BB"/>
                </a:solidFill>
              </a:rPr>
              <a:t>5 sec</a:t>
            </a:r>
            <a:endParaRPr lang="en-US" sz="850" dirty="0"/>
          </a:p>
        </p:txBody>
      </p:sp>
      <p:sp>
        <p:nvSpPr>
          <p:cNvPr id="11" name="Shape 9"/>
          <p:cNvSpPr/>
          <p:nvPr/>
        </p:nvSpPr>
        <p:spPr>
          <a:xfrm>
            <a:off x="1769364" y="1792224"/>
            <a:ext cx="164592" cy="0"/>
          </a:xfrm>
          <a:prstGeom prst="line">
            <a:avLst/>
          </a:prstGeom>
          <a:noFill/>
          <a:ln w="19050">
            <a:solidFill>
              <a:srgbClr val="FF6B35"/>
            </a:solidFill>
            <a:prstDash val="solid"/>
          </a:ln>
        </p:spPr>
      </p:sp>
      <p:sp>
        <p:nvSpPr>
          <p:cNvPr id="12" name="Text 10"/>
          <p:cNvSpPr/>
          <p:nvPr/>
        </p:nvSpPr>
        <p:spPr>
          <a:xfrm>
            <a:off x="1860804" y="1682496"/>
            <a:ext cx="128016" cy="219456"/>
          </a:xfrm>
          <a:prstGeom prst="rect">
            <a:avLst/>
          </a:prstGeom>
          <a:noFill/>
          <a:ln/>
        </p:spPr>
        <p:txBody>
          <a:bodyPr wrap="square" lIns="0" tIns="0" rIns="0" bIns="0" rtlCol="0" anchor="ctr"/>
          <a:lstStyle/>
          <a:p>
            <a:pPr algn="ctr" indent="0" marL="0">
              <a:buNone/>
            </a:pPr>
            <a:r>
              <a:rPr lang="en-US" sz="1400" dirty="0">
                <a:solidFill>
                  <a:srgbClr val="FF6B35"/>
                </a:solidFill>
              </a:rPr>
              <a:t>›</a:t>
            </a:r>
            <a:endParaRPr lang="en-US" sz="1400" dirty="0"/>
          </a:p>
        </p:txBody>
      </p:sp>
      <p:sp>
        <p:nvSpPr>
          <p:cNvPr id="13" name="Shape 11"/>
          <p:cNvSpPr/>
          <p:nvPr/>
        </p:nvSpPr>
        <p:spPr>
          <a:xfrm>
            <a:off x="2089404" y="1417320"/>
            <a:ext cx="1417320" cy="822960"/>
          </a:xfrm>
          <a:prstGeom prst="rect">
            <a:avLst/>
          </a:prstGeom>
          <a:solidFill>
            <a:srgbClr val="162436"/>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2089404" y="1417320"/>
            <a:ext cx="1417320" cy="64008"/>
          </a:xfrm>
          <a:prstGeom prst="rect">
            <a:avLst/>
          </a:prstGeom>
          <a:solidFill>
            <a:srgbClr val="00C9A7"/>
          </a:solidFill>
          <a:ln w="12700">
            <a:solidFill>
              <a:srgbClr val="00C9A7"/>
            </a:solidFill>
            <a:prstDash val="solid"/>
          </a:ln>
        </p:spPr>
      </p:sp>
      <p:sp>
        <p:nvSpPr>
          <p:cNvPr id="15" name="Text 13"/>
          <p:cNvSpPr/>
          <p:nvPr/>
        </p:nvSpPr>
        <p:spPr>
          <a:xfrm>
            <a:off x="2144268" y="1508760"/>
            <a:ext cx="1307592" cy="384048"/>
          </a:xfrm>
          <a:prstGeom prst="rect">
            <a:avLst/>
          </a:prstGeom>
          <a:noFill/>
          <a:ln/>
        </p:spPr>
        <p:txBody>
          <a:bodyPr wrap="square" lIns="0" tIns="0" rIns="0" bIns="0" rtlCol="0" anchor="ctr"/>
          <a:lstStyle/>
          <a:p>
            <a:pPr algn="ctr" indent="0" marL="0">
              <a:buNone/>
            </a:pPr>
            <a:r>
              <a:rPr lang="en-US" sz="1100" b="1" dirty="0">
                <a:solidFill>
                  <a:srgbClr val="FFFFFF"/>
                </a:solidFill>
              </a:rPr>
              <a:t>audio_recorder</a:t>
            </a:r>
            <a:endParaRPr lang="en-US" sz="1100" dirty="0"/>
          </a:p>
          <a:p>
            <a:pPr algn="ctr" indent="0" marL="0">
              <a:buNone/>
            </a:pPr>
            <a:r>
              <a:rPr lang="en-US" sz="1100" b="1" dirty="0">
                <a:solidFill>
                  <a:srgbClr val="FFFFFF"/>
                </a:solidFill>
              </a:rPr>
              <a:t>.py</a:t>
            </a:r>
            <a:endParaRPr lang="en-US" sz="1100" dirty="0"/>
          </a:p>
        </p:txBody>
      </p:sp>
      <p:sp>
        <p:nvSpPr>
          <p:cNvPr id="16" name="Text 14"/>
          <p:cNvSpPr/>
          <p:nvPr/>
        </p:nvSpPr>
        <p:spPr>
          <a:xfrm>
            <a:off x="2144268" y="1892808"/>
            <a:ext cx="1307592" cy="310896"/>
          </a:xfrm>
          <a:prstGeom prst="rect">
            <a:avLst/>
          </a:prstGeom>
          <a:noFill/>
          <a:ln/>
        </p:spPr>
        <p:txBody>
          <a:bodyPr wrap="square" lIns="0" tIns="0" rIns="0" bIns="0" rtlCol="0" anchor="ctr"/>
          <a:lstStyle/>
          <a:p>
            <a:pPr algn="ctr" indent="0" marL="0">
              <a:buNone/>
            </a:pPr>
            <a:r>
              <a:rPr lang="en-US" sz="850" dirty="0">
                <a:solidFill>
                  <a:srgbClr val="A8B2BB"/>
                </a:solidFill>
              </a:rPr>
              <a:t>WAV file</a:t>
            </a:r>
            <a:endParaRPr lang="en-US" sz="850" dirty="0"/>
          </a:p>
          <a:p>
            <a:pPr algn="ctr" indent="0" marL="0">
              <a:buNone/>
            </a:pPr>
            <a:r>
              <a:rPr lang="en-US" sz="850" dirty="0">
                <a:solidFill>
                  <a:srgbClr val="A8B2BB"/>
                </a:solidFill>
              </a:rPr>
              <a:t>44.1kHz mono</a:t>
            </a:r>
            <a:endParaRPr lang="en-US" sz="850" dirty="0"/>
          </a:p>
        </p:txBody>
      </p:sp>
      <p:sp>
        <p:nvSpPr>
          <p:cNvPr id="17" name="Shape 15"/>
          <p:cNvSpPr/>
          <p:nvPr/>
        </p:nvSpPr>
        <p:spPr>
          <a:xfrm>
            <a:off x="3543300" y="1792224"/>
            <a:ext cx="164592" cy="0"/>
          </a:xfrm>
          <a:prstGeom prst="line">
            <a:avLst/>
          </a:prstGeom>
          <a:noFill/>
          <a:ln w="19050">
            <a:solidFill>
              <a:srgbClr val="FF6B35"/>
            </a:solidFill>
            <a:prstDash val="solid"/>
          </a:ln>
        </p:spPr>
      </p:sp>
      <p:sp>
        <p:nvSpPr>
          <p:cNvPr id="18" name="Text 16"/>
          <p:cNvSpPr/>
          <p:nvPr/>
        </p:nvSpPr>
        <p:spPr>
          <a:xfrm>
            <a:off x="3634740" y="1682496"/>
            <a:ext cx="128016" cy="219456"/>
          </a:xfrm>
          <a:prstGeom prst="rect">
            <a:avLst/>
          </a:prstGeom>
          <a:noFill/>
          <a:ln/>
        </p:spPr>
        <p:txBody>
          <a:bodyPr wrap="square" lIns="0" tIns="0" rIns="0" bIns="0" rtlCol="0" anchor="ctr"/>
          <a:lstStyle/>
          <a:p>
            <a:pPr algn="ctr" indent="0" marL="0">
              <a:buNone/>
            </a:pPr>
            <a:r>
              <a:rPr lang="en-US" sz="1400" dirty="0">
                <a:solidFill>
                  <a:srgbClr val="FF6B35"/>
                </a:solidFill>
              </a:rPr>
              <a:t>›</a:t>
            </a:r>
            <a:endParaRPr lang="en-US" sz="1400" dirty="0"/>
          </a:p>
        </p:txBody>
      </p:sp>
      <p:sp>
        <p:nvSpPr>
          <p:cNvPr id="19" name="Shape 17"/>
          <p:cNvSpPr/>
          <p:nvPr/>
        </p:nvSpPr>
        <p:spPr>
          <a:xfrm>
            <a:off x="3863340" y="1417320"/>
            <a:ext cx="1417320" cy="822960"/>
          </a:xfrm>
          <a:prstGeom prst="rect">
            <a:avLst/>
          </a:prstGeom>
          <a:solidFill>
            <a:srgbClr val="162436"/>
          </a:solidFill>
          <a:ln w="12700">
            <a:solidFill>
              <a:srgbClr val="FF6B35"/>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3863340" y="1417320"/>
            <a:ext cx="1417320" cy="64008"/>
          </a:xfrm>
          <a:prstGeom prst="rect">
            <a:avLst/>
          </a:prstGeom>
          <a:solidFill>
            <a:srgbClr val="FF6B35"/>
          </a:solidFill>
          <a:ln w="12700">
            <a:solidFill>
              <a:srgbClr val="FF6B35"/>
            </a:solidFill>
            <a:prstDash val="solid"/>
          </a:ln>
        </p:spPr>
      </p:sp>
      <p:sp>
        <p:nvSpPr>
          <p:cNvPr id="21" name="Text 19"/>
          <p:cNvSpPr/>
          <p:nvPr/>
        </p:nvSpPr>
        <p:spPr>
          <a:xfrm>
            <a:off x="3918204" y="1508760"/>
            <a:ext cx="1307592" cy="384048"/>
          </a:xfrm>
          <a:prstGeom prst="rect">
            <a:avLst/>
          </a:prstGeom>
          <a:noFill/>
          <a:ln/>
        </p:spPr>
        <p:txBody>
          <a:bodyPr wrap="square" lIns="0" tIns="0" rIns="0" bIns="0" rtlCol="0" anchor="ctr"/>
          <a:lstStyle/>
          <a:p>
            <a:pPr algn="ctr" indent="0" marL="0">
              <a:buNone/>
            </a:pPr>
            <a:r>
              <a:rPr lang="en-US" sz="1100" b="1" dirty="0">
                <a:solidFill>
                  <a:srgbClr val="FFFFFF"/>
                </a:solidFill>
              </a:rPr>
              <a:t>LangGraph</a:t>
            </a:r>
            <a:endParaRPr lang="en-US" sz="1100" dirty="0"/>
          </a:p>
          <a:p>
            <a:pPr algn="ctr" indent="0" marL="0">
              <a:buNone/>
            </a:pPr>
            <a:r>
              <a:rPr lang="en-US" sz="1100" b="1" dirty="0">
                <a:solidFill>
                  <a:srgbClr val="FFFFFF"/>
                </a:solidFill>
              </a:rPr>
              <a:t>audio_graph</a:t>
            </a:r>
            <a:endParaRPr lang="en-US" sz="1100" dirty="0"/>
          </a:p>
        </p:txBody>
      </p:sp>
      <p:sp>
        <p:nvSpPr>
          <p:cNvPr id="22" name="Text 20"/>
          <p:cNvSpPr/>
          <p:nvPr/>
        </p:nvSpPr>
        <p:spPr>
          <a:xfrm>
            <a:off x="3918204" y="1892808"/>
            <a:ext cx="1307592" cy="310896"/>
          </a:xfrm>
          <a:prstGeom prst="rect">
            <a:avLst/>
          </a:prstGeom>
          <a:noFill/>
          <a:ln/>
        </p:spPr>
        <p:txBody>
          <a:bodyPr wrap="square" lIns="0" tIns="0" rIns="0" bIns="0" rtlCol="0" anchor="ctr"/>
          <a:lstStyle/>
          <a:p>
            <a:pPr algn="ctr" indent="0" marL="0">
              <a:buNone/>
            </a:pPr>
            <a:r>
              <a:rPr lang="en-US" sz="850" dirty="0">
                <a:solidFill>
                  <a:srgbClr val="A8B2BB"/>
                </a:solidFill>
              </a:rPr>
              <a:t>record_node</a:t>
            </a:r>
            <a:endParaRPr lang="en-US" sz="850" dirty="0"/>
          </a:p>
          <a:p>
            <a:pPr algn="ctr" indent="0" marL="0">
              <a:buNone/>
            </a:pPr>
            <a:r>
              <a:rPr lang="en-US" sz="850" dirty="0">
                <a:solidFill>
                  <a:srgbClr val="A8B2BB"/>
                </a:solidFill>
              </a:rPr>
              <a:t>orchestrated</a:t>
            </a:r>
            <a:endParaRPr lang="en-US" sz="850" dirty="0"/>
          </a:p>
        </p:txBody>
      </p:sp>
      <p:sp>
        <p:nvSpPr>
          <p:cNvPr id="23" name="Shape 21"/>
          <p:cNvSpPr/>
          <p:nvPr/>
        </p:nvSpPr>
        <p:spPr>
          <a:xfrm>
            <a:off x="5317236" y="1792224"/>
            <a:ext cx="164592" cy="0"/>
          </a:xfrm>
          <a:prstGeom prst="line">
            <a:avLst/>
          </a:prstGeom>
          <a:noFill/>
          <a:ln w="19050">
            <a:solidFill>
              <a:srgbClr val="FF6B35"/>
            </a:solidFill>
            <a:prstDash val="solid"/>
          </a:ln>
        </p:spPr>
      </p:sp>
      <p:sp>
        <p:nvSpPr>
          <p:cNvPr id="24" name="Text 22"/>
          <p:cNvSpPr/>
          <p:nvPr/>
        </p:nvSpPr>
        <p:spPr>
          <a:xfrm>
            <a:off x="5408676" y="1682496"/>
            <a:ext cx="128016" cy="219456"/>
          </a:xfrm>
          <a:prstGeom prst="rect">
            <a:avLst/>
          </a:prstGeom>
          <a:noFill/>
          <a:ln/>
        </p:spPr>
        <p:txBody>
          <a:bodyPr wrap="square" lIns="0" tIns="0" rIns="0" bIns="0" rtlCol="0" anchor="ctr"/>
          <a:lstStyle/>
          <a:p>
            <a:pPr algn="ctr" indent="0" marL="0">
              <a:buNone/>
            </a:pPr>
            <a:r>
              <a:rPr lang="en-US" sz="1400" dirty="0">
                <a:solidFill>
                  <a:srgbClr val="FF6B35"/>
                </a:solidFill>
              </a:rPr>
              <a:t>›</a:t>
            </a:r>
            <a:endParaRPr lang="en-US" sz="1400" dirty="0"/>
          </a:p>
        </p:txBody>
      </p:sp>
      <p:sp>
        <p:nvSpPr>
          <p:cNvPr id="25" name="Shape 23"/>
          <p:cNvSpPr/>
          <p:nvPr/>
        </p:nvSpPr>
        <p:spPr>
          <a:xfrm>
            <a:off x="5637276" y="1417320"/>
            <a:ext cx="1417320" cy="822960"/>
          </a:xfrm>
          <a:prstGeom prst="rect">
            <a:avLst/>
          </a:prstGeom>
          <a:solidFill>
            <a:srgbClr val="162436"/>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5637276" y="1417320"/>
            <a:ext cx="1417320" cy="64008"/>
          </a:xfrm>
          <a:prstGeom prst="rect">
            <a:avLst/>
          </a:prstGeom>
          <a:solidFill>
            <a:srgbClr val="00C9A7"/>
          </a:solidFill>
          <a:ln w="12700">
            <a:solidFill>
              <a:srgbClr val="00C9A7"/>
            </a:solidFill>
            <a:prstDash val="solid"/>
          </a:ln>
        </p:spPr>
      </p:sp>
      <p:sp>
        <p:nvSpPr>
          <p:cNvPr id="27" name="Text 25"/>
          <p:cNvSpPr/>
          <p:nvPr/>
        </p:nvSpPr>
        <p:spPr>
          <a:xfrm>
            <a:off x="5692140" y="1508760"/>
            <a:ext cx="1307592" cy="384048"/>
          </a:xfrm>
          <a:prstGeom prst="rect">
            <a:avLst/>
          </a:prstGeom>
          <a:noFill/>
          <a:ln/>
        </p:spPr>
        <p:txBody>
          <a:bodyPr wrap="square" lIns="0" tIns="0" rIns="0" bIns="0" rtlCol="0" anchor="ctr"/>
          <a:lstStyle/>
          <a:p>
            <a:pPr algn="ctr" indent="0" marL="0">
              <a:buNone/>
            </a:pPr>
            <a:r>
              <a:rPr lang="en-US" sz="1100" b="1" dirty="0">
                <a:solidFill>
                  <a:srgbClr val="FFFFFF"/>
                </a:solidFill>
              </a:rPr>
              <a:t>Gemini</a:t>
            </a:r>
            <a:endParaRPr lang="en-US" sz="1100" dirty="0"/>
          </a:p>
          <a:p>
            <a:pPr algn="ctr" indent="0" marL="0">
              <a:buNone/>
            </a:pPr>
            <a:r>
              <a:rPr lang="en-US" sz="1100" b="1" dirty="0">
                <a:solidFill>
                  <a:srgbClr val="FFFFFF"/>
                </a:solidFill>
              </a:rPr>
              <a:t>Files API</a:t>
            </a:r>
            <a:endParaRPr lang="en-US" sz="1100" dirty="0"/>
          </a:p>
        </p:txBody>
      </p:sp>
      <p:sp>
        <p:nvSpPr>
          <p:cNvPr id="28" name="Text 26"/>
          <p:cNvSpPr/>
          <p:nvPr/>
        </p:nvSpPr>
        <p:spPr>
          <a:xfrm>
            <a:off x="5692140" y="1892808"/>
            <a:ext cx="1307592" cy="310896"/>
          </a:xfrm>
          <a:prstGeom prst="rect">
            <a:avLst/>
          </a:prstGeom>
          <a:noFill/>
          <a:ln/>
        </p:spPr>
        <p:txBody>
          <a:bodyPr wrap="square" lIns="0" tIns="0" rIns="0" bIns="0" rtlCol="0" anchor="ctr"/>
          <a:lstStyle/>
          <a:p>
            <a:pPr algn="ctr" indent="0" marL="0">
              <a:buNone/>
            </a:pPr>
            <a:r>
              <a:rPr lang="en-US" sz="850" dirty="0">
                <a:solidFill>
                  <a:srgbClr val="A8B2BB"/>
                </a:solidFill>
              </a:rPr>
              <a:t>Transcribe +</a:t>
            </a:r>
            <a:endParaRPr lang="en-US" sz="850" dirty="0"/>
          </a:p>
          <a:p>
            <a:pPr algn="ctr" indent="0" marL="0">
              <a:buNone/>
            </a:pPr>
            <a:r>
              <a:rPr lang="en-US" sz="850" dirty="0">
                <a:solidFill>
                  <a:srgbClr val="A8B2BB"/>
                </a:solidFill>
              </a:rPr>
              <a:t>Emotion in 1 call</a:t>
            </a:r>
            <a:endParaRPr lang="en-US" sz="850" dirty="0"/>
          </a:p>
        </p:txBody>
      </p:sp>
      <p:sp>
        <p:nvSpPr>
          <p:cNvPr id="29" name="Shape 27"/>
          <p:cNvSpPr/>
          <p:nvPr/>
        </p:nvSpPr>
        <p:spPr>
          <a:xfrm>
            <a:off x="7091172" y="1792224"/>
            <a:ext cx="164592" cy="0"/>
          </a:xfrm>
          <a:prstGeom prst="line">
            <a:avLst/>
          </a:prstGeom>
          <a:noFill/>
          <a:ln w="19050">
            <a:solidFill>
              <a:srgbClr val="FF6B35"/>
            </a:solidFill>
            <a:prstDash val="solid"/>
          </a:ln>
        </p:spPr>
      </p:sp>
      <p:sp>
        <p:nvSpPr>
          <p:cNvPr id="30" name="Text 28"/>
          <p:cNvSpPr/>
          <p:nvPr/>
        </p:nvSpPr>
        <p:spPr>
          <a:xfrm>
            <a:off x="7182612" y="1682496"/>
            <a:ext cx="128016" cy="219456"/>
          </a:xfrm>
          <a:prstGeom prst="rect">
            <a:avLst/>
          </a:prstGeom>
          <a:noFill/>
          <a:ln/>
        </p:spPr>
        <p:txBody>
          <a:bodyPr wrap="square" lIns="0" tIns="0" rIns="0" bIns="0" rtlCol="0" anchor="ctr"/>
          <a:lstStyle/>
          <a:p>
            <a:pPr algn="ctr" indent="0" marL="0">
              <a:buNone/>
            </a:pPr>
            <a:r>
              <a:rPr lang="en-US" sz="1400" dirty="0">
                <a:solidFill>
                  <a:srgbClr val="FF6B35"/>
                </a:solidFill>
              </a:rPr>
              <a:t>›</a:t>
            </a:r>
            <a:endParaRPr lang="en-US" sz="1400" dirty="0"/>
          </a:p>
        </p:txBody>
      </p:sp>
      <p:sp>
        <p:nvSpPr>
          <p:cNvPr id="31" name="Shape 29"/>
          <p:cNvSpPr/>
          <p:nvPr/>
        </p:nvSpPr>
        <p:spPr>
          <a:xfrm>
            <a:off x="7411212" y="1417320"/>
            <a:ext cx="1417320" cy="822960"/>
          </a:xfrm>
          <a:prstGeom prst="rect">
            <a:avLst/>
          </a:prstGeom>
          <a:solidFill>
            <a:srgbClr val="162436"/>
          </a:solidFill>
          <a:ln w="12700">
            <a:solidFill>
              <a:srgbClr val="FF6B35"/>
            </a:solidFill>
            <a:prstDash val="solid"/>
          </a:ln>
          <a:effectLst>
            <a:outerShdw sx="100000" sy="100000" kx="0" ky="0" algn="bl" rotWithShape="0" blurRad="101600" dist="38100" dir="8100000">
              <a:srgbClr val="000000">
                <a:alpha val="18000"/>
              </a:srgbClr>
            </a:outerShdw>
          </a:effectLst>
        </p:spPr>
      </p:sp>
      <p:sp>
        <p:nvSpPr>
          <p:cNvPr id="32" name="Shape 30"/>
          <p:cNvSpPr/>
          <p:nvPr/>
        </p:nvSpPr>
        <p:spPr>
          <a:xfrm>
            <a:off x="7411212" y="1417320"/>
            <a:ext cx="1417320" cy="64008"/>
          </a:xfrm>
          <a:prstGeom prst="rect">
            <a:avLst/>
          </a:prstGeom>
          <a:solidFill>
            <a:srgbClr val="FF6B35"/>
          </a:solidFill>
          <a:ln w="12700">
            <a:solidFill>
              <a:srgbClr val="FF6B35"/>
            </a:solidFill>
            <a:prstDash val="solid"/>
          </a:ln>
        </p:spPr>
      </p:sp>
      <p:sp>
        <p:nvSpPr>
          <p:cNvPr id="33" name="Text 31"/>
          <p:cNvSpPr/>
          <p:nvPr/>
        </p:nvSpPr>
        <p:spPr>
          <a:xfrm>
            <a:off x="7466076" y="1508760"/>
            <a:ext cx="1307592" cy="384048"/>
          </a:xfrm>
          <a:prstGeom prst="rect">
            <a:avLst/>
          </a:prstGeom>
          <a:noFill/>
          <a:ln/>
        </p:spPr>
        <p:txBody>
          <a:bodyPr wrap="square" lIns="0" tIns="0" rIns="0" bIns="0" rtlCol="0" anchor="ctr"/>
          <a:lstStyle/>
          <a:p>
            <a:pPr algn="ctr" indent="0" marL="0">
              <a:buNone/>
            </a:pPr>
            <a:r>
              <a:rPr lang="en-US" sz="1100" b="1" dirty="0">
                <a:solidFill>
                  <a:srgbClr val="FFFFFF"/>
                </a:solidFill>
              </a:rPr>
              <a:t>save_node</a:t>
            </a:r>
            <a:endParaRPr lang="en-US" sz="1100" dirty="0"/>
          </a:p>
          <a:p>
            <a:pPr algn="ctr" indent="0" marL="0">
              <a:buNone/>
            </a:pPr>
            <a:r>
              <a:rPr lang="en-US" sz="1100" b="1" dirty="0">
                <a:solidFill>
                  <a:srgbClr val="FFFFFF"/>
                </a:solidFill>
              </a:rPr>
              <a:t>(Supabase)</a:t>
            </a:r>
            <a:endParaRPr lang="en-US" sz="1100" dirty="0"/>
          </a:p>
        </p:txBody>
      </p:sp>
      <p:sp>
        <p:nvSpPr>
          <p:cNvPr id="34" name="Text 32"/>
          <p:cNvSpPr/>
          <p:nvPr/>
        </p:nvSpPr>
        <p:spPr>
          <a:xfrm>
            <a:off x="7466076" y="1892808"/>
            <a:ext cx="1307592" cy="310896"/>
          </a:xfrm>
          <a:prstGeom prst="rect">
            <a:avLst/>
          </a:prstGeom>
          <a:noFill/>
          <a:ln/>
        </p:spPr>
        <p:txBody>
          <a:bodyPr wrap="square" lIns="0" tIns="0" rIns="0" bIns="0" rtlCol="0" anchor="ctr"/>
          <a:lstStyle/>
          <a:p>
            <a:pPr algn="ctr" indent="0" marL="0">
              <a:buNone/>
            </a:pPr>
            <a:r>
              <a:rPr lang="en-US" sz="850" dirty="0">
                <a:solidFill>
                  <a:srgbClr val="A8B2BB"/>
                </a:solidFill>
              </a:rPr>
              <a:t>Transcript +</a:t>
            </a:r>
            <a:endParaRPr lang="en-US" sz="850" dirty="0"/>
          </a:p>
          <a:p>
            <a:pPr algn="ctr" indent="0" marL="0">
              <a:buNone/>
            </a:pPr>
            <a:r>
              <a:rPr lang="en-US" sz="850" dirty="0">
                <a:solidFill>
                  <a:srgbClr val="A8B2BB"/>
                </a:solidFill>
              </a:rPr>
              <a:t>analysis saved</a:t>
            </a:r>
            <a:endParaRPr lang="en-US" sz="850" dirty="0"/>
          </a:p>
        </p:txBody>
      </p:sp>
      <p:sp>
        <p:nvSpPr>
          <p:cNvPr id="35" name="Shape 33"/>
          <p:cNvSpPr/>
          <p:nvPr/>
        </p:nvSpPr>
        <p:spPr>
          <a:xfrm>
            <a:off x="548640" y="2487168"/>
            <a:ext cx="8046720" cy="914400"/>
          </a:xfrm>
          <a:prstGeom prst="rect">
            <a:avLst/>
          </a:prstGeom>
          <a:solidFill>
            <a:srgbClr val="091520"/>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36" name="Shape 34"/>
          <p:cNvSpPr/>
          <p:nvPr/>
        </p:nvSpPr>
        <p:spPr>
          <a:xfrm>
            <a:off x="548640" y="2487168"/>
            <a:ext cx="64008" cy="914400"/>
          </a:xfrm>
          <a:prstGeom prst="rect">
            <a:avLst/>
          </a:prstGeom>
          <a:solidFill>
            <a:srgbClr val="FF6B35"/>
          </a:solidFill>
          <a:ln w="12700">
            <a:solidFill>
              <a:srgbClr val="FF6B35"/>
            </a:solidFill>
            <a:prstDash val="solid"/>
          </a:ln>
        </p:spPr>
      </p:sp>
      <p:sp>
        <p:nvSpPr>
          <p:cNvPr id="37" name="Text 35"/>
          <p:cNvSpPr/>
          <p:nvPr/>
        </p:nvSpPr>
        <p:spPr>
          <a:xfrm>
            <a:off x="749808" y="2542032"/>
            <a:ext cx="7498080" cy="804672"/>
          </a:xfrm>
          <a:prstGeom prst="rect">
            <a:avLst/>
          </a:prstGeom>
          <a:noFill/>
          <a:ln/>
        </p:spPr>
        <p:txBody>
          <a:bodyPr wrap="square" lIns="0" tIns="0" rIns="0" bIns="0" rtlCol="0" anchor="ctr"/>
          <a:lstStyle/>
          <a:p>
            <a:pPr algn="l" indent="0" marL="0">
              <a:buNone/>
            </a:pPr>
            <a:r>
              <a:rPr lang="en-US" sz="1200" b="1" dirty="0">
                <a:solidFill>
                  <a:srgbClr val="FF6B35"/>
                </a:solidFill>
                <a:latin typeface="Calibri" pitchFamily="34" charset="0"/>
                <a:ea typeface="Calibri" pitchFamily="34" charset="-122"/>
                <a:cs typeface="Calibri" pitchFamily="34" charset="-120"/>
              </a:rPr>
              <a:t xml:space="preserve">Key Details  </a:t>
            </a:r>
            <a:pPr algn="l" indent="0" marL="0">
              <a:buNone/>
            </a:pPr>
            <a:r>
              <a:rPr lang="en-US" sz="1200" dirty="0">
                <a:solidFill>
                  <a:srgbClr val="A8B2BB"/>
                </a:solidFill>
                <a:latin typeface="Calibri" pitchFamily="34" charset="0"/>
                <a:ea typeface="Calibri" pitchFamily="34" charset="-122"/>
                <a:cs typeface="Calibri" pitchFamily="34" charset="-120"/>
              </a:rPr>
              <a:t>Records at 44,100 Hz · mono · float32   ·   Gemini transcribes AND analyses emotion in one API call   ·   Temp WAV file auto-deleted after processing</a:t>
            </a:r>
            <a:endParaRPr lang="en-US" sz="1200" dirty="0"/>
          </a:p>
        </p:txBody>
      </p:sp>
      <p:sp>
        <p:nvSpPr>
          <p:cNvPr id="38" name="Text 36"/>
          <p:cNvSpPr/>
          <p:nvPr/>
        </p:nvSpPr>
        <p:spPr>
          <a:xfrm>
            <a:off x="457200" y="3657600"/>
            <a:ext cx="8229600" cy="329184"/>
          </a:xfrm>
          <a:prstGeom prst="rect">
            <a:avLst/>
          </a:prstGeom>
          <a:noFill/>
          <a:ln/>
        </p:spPr>
        <p:txBody>
          <a:bodyPr wrap="square" lIns="0" tIns="0" rIns="0" bIns="0" rtlCol="0" anchor="ctr"/>
          <a:lstStyle/>
          <a:p>
            <a:pPr algn="ctr" indent="0" marL="0">
              <a:buNone/>
            </a:pPr>
            <a:r>
              <a:rPr lang="en-US" sz="1350" b="1" dirty="0">
                <a:solidFill>
                  <a:srgbClr val="FF6B35"/>
                </a:solidFill>
              </a:rPr>
              <a:t>Output →  Transcript · Emotion · CASEL Competency · AI Response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56032"/>
            <a:ext cx="1463040" cy="256032"/>
          </a:xfrm>
          <a:prstGeom prst="roundRect">
            <a:avLst>
              <a:gd name="adj" fmla="val 17857"/>
            </a:avLst>
          </a:prstGeom>
          <a:solidFill>
            <a:srgbClr val="00C9A7">
              <a:alpha val="80000"/>
            </a:srgbClr>
          </a:solidFill>
          <a:ln w="12700">
            <a:solidFill>
              <a:srgbClr val="00C9A7"/>
            </a:solidFill>
            <a:prstDash val="solid"/>
          </a:ln>
        </p:spPr>
      </p:sp>
      <p:sp>
        <p:nvSpPr>
          <p:cNvPr id="3" name="Text 1"/>
          <p:cNvSpPr/>
          <p:nvPr/>
        </p:nvSpPr>
        <p:spPr>
          <a:xfrm>
            <a:off x="365760" y="256032"/>
            <a:ext cx="1463040" cy="256032"/>
          </a:xfrm>
          <a:prstGeom prst="rect">
            <a:avLst/>
          </a:prstGeom>
          <a:noFill/>
          <a:ln/>
        </p:spPr>
        <p:txBody>
          <a:bodyPr wrap="square" lIns="0" tIns="0" rIns="0" bIns="0" rtlCol="0" anchor="ctr"/>
          <a:lstStyle/>
          <a:p>
            <a:pPr algn="ctr" indent="0" marL="0">
              <a:buNone/>
            </a:pPr>
            <a:r>
              <a:rPr lang="en-US" sz="750" b="1" spc="150" kern="0" dirty="0">
                <a:solidFill>
                  <a:srgbClr val="FFFFFF"/>
                </a:solidFill>
              </a:rPr>
              <a:t>CASEL</a:t>
            </a:r>
            <a:endParaRPr lang="en-US" sz="750" dirty="0"/>
          </a:p>
        </p:txBody>
      </p:sp>
      <p:sp>
        <p:nvSpPr>
          <p:cNvPr id="4" name="Text 2"/>
          <p:cNvSpPr/>
          <p:nvPr/>
        </p:nvSpPr>
        <p:spPr>
          <a:xfrm>
            <a:off x="365760" y="658368"/>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Emotion → CASEL Competency Mapping</a:t>
            </a:r>
            <a:endParaRPr lang="en-US" sz="3000" dirty="0"/>
          </a:p>
        </p:txBody>
      </p:sp>
      <p:sp>
        <p:nvSpPr>
          <p:cNvPr id="5" name="Shape 3"/>
          <p:cNvSpPr/>
          <p:nvPr/>
        </p:nvSpPr>
        <p:spPr>
          <a:xfrm>
            <a:off x="365760" y="1188720"/>
            <a:ext cx="914400" cy="45720"/>
          </a:xfrm>
          <a:prstGeom prst="rect">
            <a:avLst/>
          </a:prstGeom>
          <a:solidFill>
            <a:srgbClr val="00C9A7"/>
          </a:solidFill>
          <a:ln w="12700">
            <a:solidFill>
              <a:srgbClr val="00C9A7"/>
            </a:solidFill>
            <a:prstDash val="solid"/>
          </a:ln>
        </p:spPr>
      </p:sp>
      <p:sp>
        <p:nvSpPr>
          <p:cNvPr id="6" name="Text 4"/>
          <p:cNvSpPr/>
          <p:nvPr/>
        </p:nvSpPr>
        <p:spPr>
          <a:xfrm>
            <a:off x="8229600" y="4800600"/>
            <a:ext cx="731520" cy="182880"/>
          </a:xfrm>
          <a:prstGeom prst="rect">
            <a:avLst/>
          </a:prstGeom>
          <a:noFill/>
          <a:ln/>
        </p:spPr>
        <p:txBody>
          <a:bodyPr wrap="square" lIns="0" tIns="0" rIns="0" bIns="0" rtlCol="0" anchor="ctr"/>
          <a:lstStyle/>
          <a:p>
            <a:pPr algn="r" indent="0" marL="0">
              <a:buNone/>
            </a:pPr>
            <a:r>
              <a:rPr lang="en-US" sz="900" dirty="0">
                <a:solidFill>
                  <a:srgbClr val="A8B2BB"/>
                </a:solidFill>
              </a:rPr>
              <a:t>7 / 10</a:t>
            </a:r>
            <a:endParaRPr lang="en-US" sz="900" dirty="0"/>
          </a:p>
        </p:txBody>
      </p:sp>
      <p:sp>
        <p:nvSpPr>
          <p:cNvPr id="7" name="Shape 5"/>
          <p:cNvSpPr/>
          <p:nvPr/>
        </p:nvSpPr>
        <p:spPr>
          <a:xfrm>
            <a:off x="320040" y="1298448"/>
            <a:ext cx="2331720" cy="3547872"/>
          </a:xfrm>
          <a:prstGeom prst="rect">
            <a:avLst/>
          </a:prstGeom>
          <a:solidFill>
            <a:srgbClr val="162436"/>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320040" y="1298448"/>
            <a:ext cx="2331720" cy="347472"/>
          </a:xfrm>
          <a:prstGeom prst="rect">
            <a:avLst/>
          </a:prstGeom>
          <a:solidFill>
            <a:srgbClr val="00C9A7"/>
          </a:solidFill>
          <a:ln w="12700">
            <a:solidFill>
              <a:srgbClr val="00C9A7"/>
            </a:solidFill>
            <a:prstDash val="solid"/>
          </a:ln>
        </p:spPr>
      </p:sp>
      <p:sp>
        <p:nvSpPr>
          <p:cNvPr id="9" name="Text 7"/>
          <p:cNvSpPr/>
          <p:nvPr/>
        </p:nvSpPr>
        <p:spPr>
          <a:xfrm>
            <a:off x="320040" y="1298448"/>
            <a:ext cx="2331720" cy="347472"/>
          </a:xfrm>
          <a:prstGeom prst="rect">
            <a:avLst/>
          </a:prstGeom>
          <a:noFill/>
          <a:ln/>
        </p:spPr>
        <p:txBody>
          <a:bodyPr wrap="square" lIns="0" tIns="0" rIns="0" bIns="0" rtlCol="0" anchor="ctr"/>
          <a:lstStyle/>
          <a:p>
            <a:pPr algn="ctr" indent="0" marL="0">
              <a:buNone/>
            </a:pPr>
            <a:r>
              <a:rPr lang="en-US" sz="1100" b="1" spc="150" kern="0" dirty="0">
                <a:solidFill>
                  <a:srgbClr val="0D1B2A"/>
                </a:solidFill>
              </a:rPr>
              <a:t>7 EMOTIONS</a:t>
            </a:r>
            <a:endParaRPr lang="en-US" sz="1100" dirty="0"/>
          </a:p>
        </p:txBody>
      </p:sp>
      <p:sp>
        <p:nvSpPr>
          <p:cNvPr id="10" name="Text 8"/>
          <p:cNvSpPr/>
          <p:nvPr/>
        </p:nvSpPr>
        <p:spPr>
          <a:xfrm>
            <a:off x="411480" y="1755648"/>
            <a:ext cx="2148840" cy="347472"/>
          </a:xfrm>
          <a:prstGeom prst="rect">
            <a:avLst/>
          </a:prstGeom>
          <a:noFill/>
          <a:ln/>
        </p:spPr>
        <p:txBody>
          <a:bodyPr wrap="square" lIns="0" tIns="0" rIns="0" bIns="0" rtlCol="0" anchor="ctr"/>
          <a:lstStyle/>
          <a:p>
            <a:pPr algn="ctr" indent="0" marL="0">
              <a:buNone/>
            </a:pPr>
            <a:r>
              <a:rPr lang="en-US" sz="1300" b="1" dirty="0">
                <a:solidFill>
                  <a:srgbClr val="00C9A7"/>
                </a:solidFill>
              </a:rPr>
              <a:t>joy</a:t>
            </a:r>
            <a:endParaRPr lang="en-US" sz="1300" dirty="0"/>
          </a:p>
        </p:txBody>
      </p:sp>
      <p:sp>
        <p:nvSpPr>
          <p:cNvPr id="11" name="Text 9"/>
          <p:cNvSpPr/>
          <p:nvPr/>
        </p:nvSpPr>
        <p:spPr>
          <a:xfrm>
            <a:off x="411480" y="2194560"/>
            <a:ext cx="2148840" cy="347472"/>
          </a:xfrm>
          <a:prstGeom prst="rect">
            <a:avLst/>
          </a:prstGeom>
          <a:noFill/>
          <a:ln/>
        </p:spPr>
        <p:txBody>
          <a:bodyPr wrap="square" lIns="0" tIns="0" rIns="0" bIns="0" rtlCol="0" anchor="ctr"/>
          <a:lstStyle/>
          <a:p>
            <a:pPr algn="ctr" indent="0" marL="0">
              <a:buNone/>
            </a:pPr>
            <a:r>
              <a:rPr lang="en-US" sz="1300" b="1" dirty="0">
                <a:solidFill>
                  <a:srgbClr val="6EA8FE"/>
                </a:solidFill>
              </a:rPr>
              <a:t>sadness</a:t>
            </a:r>
            <a:endParaRPr lang="en-US" sz="1300" dirty="0"/>
          </a:p>
        </p:txBody>
      </p:sp>
      <p:sp>
        <p:nvSpPr>
          <p:cNvPr id="12" name="Text 10"/>
          <p:cNvSpPr/>
          <p:nvPr/>
        </p:nvSpPr>
        <p:spPr>
          <a:xfrm>
            <a:off x="411480" y="2633472"/>
            <a:ext cx="2148840" cy="347472"/>
          </a:xfrm>
          <a:prstGeom prst="rect">
            <a:avLst/>
          </a:prstGeom>
          <a:noFill/>
          <a:ln/>
        </p:spPr>
        <p:txBody>
          <a:bodyPr wrap="square" lIns="0" tIns="0" rIns="0" bIns="0" rtlCol="0" anchor="ctr"/>
          <a:lstStyle/>
          <a:p>
            <a:pPr algn="ctr" indent="0" marL="0">
              <a:buNone/>
            </a:pPr>
            <a:r>
              <a:rPr lang="en-US" sz="1300" b="1" dirty="0">
                <a:solidFill>
                  <a:srgbClr val="FF6B35"/>
                </a:solidFill>
              </a:rPr>
              <a:t>anger</a:t>
            </a:r>
            <a:endParaRPr lang="en-US" sz="1300" dirty="0"/>
          </a:p>
        </p:txBody>
      </p:sp>
      <p:sp>
        <p:nvSpPr>
          <p:cNvPr id="13" name="Text 11"/>
          <p:cNvSpPr/>
          <p:nvPr/>
        </p:nvSpPr>
        <p:spPr>
          <a:xfrm>
            <a:off x="411480" y="3072384"/>
            <a:ext cx="2148840" cy="347472"/>
          </a:xfrm>
          <a:prstGeom prst="rect">
            <a:avLst/>
          </a:prstGeom>
          <a:noFill/>
          <a:ln/>
        </p:spPr>
        <p:txBody>
          <a:bodyPr wrap="square" lIns="0" tIns="0" rIns="0" bIns="0" rtlCol="0" anchor="ctr"/>
          <a:lstStyle/>
          <a:p>
            <a:pPr algn="ctr" indent="0" marL="0">
              <a:buNone/>
            </a:pPr>
            <a:r>
              <a:rPr lang="en-US" sz="1300" b="1" dirty="0">
                <a:solidFill>
                  <a:srgbClr val="FFC107"/>
                </a:solidFill>
              </a:rPr>
              <a:t>fear</a:t>
            </a:r>
            <a:endParaRPr lang="en-US" sz="1300" dirty="0"/>
          </a:p>
        </p:txBody>
      </p:sp>
      <p:sp>
        <p:nvSpPr>
          <p:cNvPr id="14" name="Text 12"/>
          <p:cNvSpPr/>
          <p:nvPr/>
        </p:nvSpPr>
        <p:spPr>
          <a:xfrm>
            <a:off x="411480" y="3511296"/>
            <a:ext cx="2148840" cy="347472"/>
          </a:xfrm>
          <a:prstGeom prst="rect">
            <a:avLst/>
          </a:prstGeom>
          <a:noFill/>
          <a:ln/>
        </p:spPr>
        <p:txBody>
          <a:bodyPr wrap="square" lIns="0" tIns="0" rIns="0" bIns="0" rtlCol="0" anchor="ctr"/>
          <a:lstStyle/>
          <a:p>
            <a:pPr algn="ctr" indent="0" marL="0">
              <a:buNone/>
            </a:pPr>
            <a:r>
              <a:rPr lang="en-US" sz="1300" b="1" dirty="0">
                <a:solidFill>
                  <a:srgbClr val="A8D8EA"/>
                </a:solidFill>
              </a:rPr>
              <a:t>surprise</a:t>
            </a:r>
            <a:endParaRPr lang="en-US" sz="1300" dirty="0"/>
          </a:p>
        </p:txBody>
      </p:sp>
      <p:sp>
        <p:nvSpPr>
          <p:cNvPr id="15" name="Text 13"/>
          <p:cNvSpPr/>
          <p:nvPr/>
        </p:nvSpPr>
        <p:spPr>
          <a:xfrm>
            <a:off x="411480" y="3950208"/>
            <a:ext cx="2148840" cy="347472"/>
          </a:xfrm>
          <a:prstGeom prst="rect">
            <a:avLst/>
          </a:prstGeom>
          <a:noFill/>
          <a:ln/>
        </p:spPr>
        <p:txBody>
          <a:bodyPr wrap="square" lIns="0" tIns="0" rIns="0" bIns="0" rtlCol="0" anchor="ctr"/>
          <a:lstStyle/>
          <a:p>
            <a:pPr algn="ctr" indent="0" marL="0">
              <a:buNone/>
            </a:pPr>
            <a:r>
              <a:rPr lang="en-US" sz="1300" b="1" dirty="0">
                <a:solidFill>
                  <a:srgbClr val="FF8FA3"/>
                </a:solidFill>
              </a:rPr>
              <a:t>disgust</a:t>
            </a:r>
            <a:endParaRPr lang="en-US" sz="1300" dirty="0"/>
          </a:p>
        </p:txBody>
      </p:sp>
      <p:sp>
        <p:nvSpPr>
          <p:cNvPr id="16" name="Text 14"/>
          <p:cNvSpPr/>
          <p:nvPr/>
        </p:nvSpPr>
        <p:spPr>
          <a:xfrm>
            <a:off x="411480" y="4389120"/>
            <a:ext cx="2148840" cy="347472"/>
          </a:xfrm>
          <a:prstGeom prst="rect">
            <a:avLst/>
          </a:prstGeom>
          <a:noFill/>
          <a:ln/>
        </p:spPr>
        <p:txBody>
          <a:bodyPr wrap="square" lIns="0" tIns="0" rIns="0" bIns="0" rtlCol="0" anchor="ctr"/>
          <a:lstStyle/>
          <a:p>
            <a:pPr algn="ctr" indent="0" marL="0">
              <a:buNone/>
            </a:pPr>
            <a:r>
              <a:rPr lang="en-US" sz="1300" b="1" dirty="0">
                <a:solidFill>
                  <a:srgbClr val="A8B2BB"/>
                </a:solidFill>
              </a:rPr>
              <a:t>neutral</a:t>
            </a:r>
            <a:endParaRPr lang="en-US" sz="1300" dirty="0"/>
          </a:p>
        </p:txBody>
      </p:sp>
      <p:sp>
        <p:nvSpPr>
          <p:cNvPr id="17" name="Shape 15"/>
          <p:cNvSpPr/>
          <p:nvPr/>
        </p:nvSpPr>
        <p:spPr>
          <a:xfrm>
            <a:off x="2670048" y="3072384"/>
            <a:ext cx="594360" cy="0"/>
          </a:xfrm>
          <a:prstGeom prst="line">
            <a:avLst/>
          </a:prstGeom>
          <a:noFill/>
          <a:ln w="25400">
            <a:solidFill>
              <a:srgbClr val="00C9A7"/>
            </a:solidFill>
            <a:prstDash val="solid"/>
          </a:ln>
        </p:spPr>
      </p:sp>
      <p:sp>
        <p:nvSpPr>
          <p:cNvPr id="18" name="Text 16"/>
          <p:cNvSpPr/>
          <p:nvPr/>
        </p:nvSpPr>
        <p:spPr>
          <a:xfrm>
            <a:off x="3127248" y="2907792"/>
            <a:ext cx="256032" cy="329184"/>
          </a:xfrm>
          <a:prstGeom prst="rect">
            <a:avLst/>
          </a:prstGeom>
          <a:noFill/>
          <a:ln/>
        </p:spPr>
        <p:txBody>
          <a:bodyPr wrap="square" lIns="0" tIns="0" rIns="0" bIns="0" rtlCol="0" anchor="ctr"/>
          <a:lstStyle/>
          <a:p>
            <a:pPr algn="ctr" indent="0" marL="0">
              <a:buNone/>
            </a:pPr>
            <a:r>
              <a:rPr lang="en-US" sz="1800" dirty="0">
                <a:solidFill>
                  <a:srgbClr val="00C9A7"/>
                </a:solidFill>
              </a:rPr>
              <a:t>›</a:t>
            </a:r>
            <a:endParaRPr lang="en-US" sz="1800" dirty="0"/>
          </a:p>
        </p:txBody>
      </p:sp>
      <p:sp>
        <p:nvSpPr>
          <p:cNvPr id="19" name="Text 17"/>
          <p:cNvSpPr/>
          <p:nvPr/>
        </p:nvSpPr>
        <p:spPr>
          <a:xfrm>
            <a:off x="2633472" y="3291840"/>
            <a:ext cx="822960" cy="457200"/>
          </a:xfrm>
          <a:prstGeom prst="rect">
            <a:avLst/>
          </a:prstGeom>
          <a:noFill/>
          <a:ln/>
        </p:spPr>
        <p:txBody>
          <a:bodyPr wrap="square" lIns="0" tIns="0" rIns="0" bIns="0" rtlCol="0" anchor="ctr"/>
          <a:lstStyle/>
          <a:p>
            <a:pPr algn="ctr" indent="0" marL="0">
              <a:buNone/>
            </a:pPr>
            <a:r>
              <a:rPr lang="en-US" sz="850" dirty="0">
                <a:solidFill>
                  <a:srgbClr val="A8B2BB"/>
                </a:solidFill>
              </a:rPr>
              <a:t>Gemini</a:t>
            </a:r>
            <a:endParaRPr lang="en-US" sz="850" dirty="0"/>
          </a:p>
          <a:p>
            <a:pPr algn="ctr" indent="0" marL="0">
              <a:buNone/>
            </a:pPr>
            <a:r>
              <a:rPr lang="en-US" sz="850" dirty="0">
                <a:solidFill>
                  <a:srgbClr val="A8B2BB"/>
                </a:solidFill>
              </a:rPr>
              <a:t>maps</a:t>
            </a:r>
            <a:endParaRPr lang="en-US" sz="850" dirty="0"/>
          </a:p>
        </p:txBody>
      </p:sp>
      <p:sp>
        <p:nvSpPr>
          <p:cNvPr id="20" name="Shape 18"/>
          <p:cNvSpPr/>
          <p:nvPr/>
        </p:nvSpPr>
        <p:spPr>
          <a:xfrm>
            <a:off x="3547872" y="1298448"/>
            <a:ext cx="5257800" cy="603504"/>
          </a:xfrm>
          <a:prstGeom prst="rect">
            <a:avLst/>
          </a:prstGeom>
          <a:solidFill>
            <a:srgbClr val="162436"/>
          </a:solidFill>
          <a:ln w="12700">
            <a:solidFill>
              <a:srgbClr val="1A3A3A"/>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547872" y="1298448"/>
            <a:ext cx="256032" cy="603504"/>
          </a:xfrm>
          <a:prstGeom prst="rect">
            <a:avLst/>
          </a:prstGeom>
          <a:solidFill>
            <a:srgbClr val="00C9A7"/>
          </a:solidFill>
          <a:ln w="12700">
            <a:solidFill>
              <a:srgbClr val="00C9A7"/>
            </a:solidFill>
            <a:prstDash val="solid"/>
          </a:ln>
        </p:spPr>
      </p:sp>
      <p:sp>
        <p:nvSpPr>
          <p:cNvPr id="22" name="Text 20"/>
          <p:cNvSpPr/>
          <p:nvPr/>
        </p:nvSpPr>
        <p:spPr>
          <a:xfrm>
            <a:off x="3547872" y="1298448"/>
            <a:ext cx="256032" cy="603504"/>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3" name="Text 21"/>
          <p:cNvSpPr/>
          <p:nvPr/>
        </p:nvSpPr>
        <p:spPr>
          <a:xfrm>
            <a:off x="3877056" y="1353312"/>
            <a:ext cx="4791456" cy="256032"/>
          </a:xfrm>
          <a:prstGeom prst="rect">
            <a:avLst/>
          </a:prstGeom>
          <a:noFill/>
          <a:ln/>
        </p:spPr>
        <p:txBody>
          <a:bodyPr wrap="square" lIns="0" tIns="0" rIns="0" bIns="0" rtlCol="0" anchor="ctr"/>
          <a:lstStyle/>
          <a:p>
            <a:pPr indent="0" marL="0">
              <a:buNone/>
            </a:pPr>
            <a:r>
              <a:rPr lang="en-US" sz="1250" b="1" dirty="0">
                <a:solidFill>
                  <a:srgbClr val="FFFFFF"/>
                </a:solidFill>
              </a:rPr>
              <a:t>Self-Awareness</a:t>
            </a:r>
            <a:endParaRPr lang="en-US" sz="1250" dirty="0"/>
          </a:p>
        </p:txBody>
      </p:sp>
      <p:sp>
        <p:nvSpPr>
          <p:cNvPr id="24" name="Text 22"/>
          <p:cNvSpPr/>
          <p:nvPr/>
        </p:nvSpPr>
        <p:spPr>
          <a:xfrm>
            <a:off x="3877056" y="1627632"/>
            <a:ext cx="4791456" cy="237744"/>
          </a:xfrm>
          <a:prstGeom prst="rect">
            <a:avLst/>
          </a:prstGeom>
          <a:noFill/>
          <a:ln/>
        </p:spPr>
        <p:txBody>
          <a:bodyPr wrap="square" lIns="0" tIns="0" rIns="0" bIns="0" rtlCol="0" anchor="ctr"/>
          <a:lstStyle/>
          <a:p>
            <a:pPr indent="0" marL="0">
              <a:buNone/>
            </a:pPr>
            <a:r>
              <a:rPr lang="en-US" sz="950" dirty="0">
                <a:solidFill>
                  <a:srgbClr val="A8B2BB"/>
                </a:solidFill>
              </a:rPr>
              <a:t>Recognising one's own emotions and thoughts</a:t>
            </a:r>
            <a:endParaRPr lang="en-US" sz="950" dirty="0"/>
          </a:p>
        </p:txBody>
      </p:sp>
      <p:sp>
        <p:nvSpPr>
          <p:cNvPr id="25" name="Shape 23"/>
          <p:cNvSpPr/>
          <p:nvPr/>
        </p:nvSpPr>
        <p:spPr>
          <a:xfrm>
            <a:off x="3547872" y="1993392"/>
            <a:ext cx="5257800" cy="603504"/>
          </a:xfrm>
          <a:prstGeom prst="rect">
            <a:avLst/>
          </a:prstGeom>
          <a:solidFill>
            <a:srgbClr val="162436"/>
          </a:solidFill>
          <a:ln w="12700">
            <a:solidFill>
              <a:srgbClr val="1A3A3A"/>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3547872" y="1993392"/>
            <a:ext cx="256032" cy="603504"/>
          </a:xfrm>
          <a:prstGeom prst="rect">
            <a:avLst/>
          </a:prstGeom>
          <a:solidFill>
            <a:srgbClr val="00A896"/>
          </a:solidFill>
          <a:ln w="12700">
            <a:solidFill>
              <a:srgbClr val="00A896"/>
            </a:solidFill>
            <a:prstDash val="solid"/>
          </a:ln>
        </p:spPr>
      </p:sp>
      <p:sp>
        <p:nvSpPr>
          <p:cNvPr id="27" name="Text 25"/>
          <p:cNvSpPr/>
          <p:nvPr/>
        </p:nvSpPr>
        <p:spPr>
          <a:xfrm>
            <a:off x="3547872" y="1993392"/>
            <a:ext cx="256032" cy="603504"/>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28" name="Text 26"/>
          <p:cNvSpPr/>
          <p:nvPr/>
        </p:nvSpPr>
        <p:spPr>
          <a:xfrm>
            <a:off x="3877056" y="2048256"/>
            <a:ext cx="4791456" cy="256032"/>
          </a:xfrm>
          <a:prstGeom prst="rect">
            <a:avLst/>
          </a:prstGeom>
          <a:noFill/>
          <a:ln/>
        </p:spPr>
        <p:txBody>
          <a:bodyPr wrap="square" lIns="0" tIns="0" rIns="0" bIns="0" rtlCol="0" anchor="ctr"/>
          <a:lstStyle/>
          <a:p>
            <a:pPr indent="0" marL="0">
              <a:buNone/>
            </a:pPr>
            <a:r>
              <a:rPr lang="en-US" sz="1250" b="1" dirty="0">
                <a:solidFill>
                  <a:srgbClr val="FFFFFF"/>
                </a:solidFill>
              </a:rPr>
              <a:t>Self-Management</a:t>
            </a:r>
            <a:endParaRPr lang="en-US" sz="1250" dirty="0"/>
          </a:p>
        </p:txBody>
      </p:sp>
      <p:sp>
        <p:nvSpPr>
          <p:cNvPr id="29" name="Text 27"/>
          <p:cNvSpPr/>
          <p:nvPr/>
        </p:nvSpPr>
        <p:spPr>
          <a:xfrm>
            <a:off x="3877056" y="2322576"/>
            <a:ext cx="4791456" cy="237744"/>
          </a:xfrm>
          <a:prstGeom prst="rect">
            <a:avLst/>
          </a:prstGeom>
          <a:noFill/>
          <a:ln/>
        </p:spPr>
        <p:txBody>
          <a:bodyPr wrap="square" lIns="0" tIns="0" rIns="0" bIns="0" rtlCol="0" anchor="ctr"/>
          <a:lstStyle/>
          <a:p>
            <a:pPr indent="0" marL="0">
              <a:buNone/>
            </a:pPr>
            <a:r>
              <a:rPr lang="en-US" sz="950" dirty="0">
                <a:solidFill>
                  <a:srgbClr val="A8B2BB"/>
                </a:solidFill>
              </a:rPr>
              <a:t>Regulating emotions and behaviours</a:t>
            </a:r>
            <a:endParaRPr lang="en-US" sz="950" dirty="0"/>
          </a:p>
        </p:txBody>
      </p:sp>
      <p:sp>
        <p:nvSpPr>
          <p:cNvPr id="30" name="Shape 28"/>
          <p:cNvSpPr/>
          <p:nvPr/>
        </p:nvSpPr>
        <p:spPr>
          <a:xfrm>
            <a:off x="3547872" y="2688336"/>
            <a:ext cx="5257800" cy="603504"/>
          </a:xfrm>
          <a:prstGeom prst="rect">
            <a:avLst/>
          </a:prstGeom>
          <a:solidFill>
            <a:srgbClr val="162436"/>
          </a:solidFill>
          <a:ln w="12700">
            <a:solidFill>
              <a:srgbClr val="1A3A3A"/>
            </a:solidFill>
            <a:prstDash val="solid"/>
          </a:ln>
          <a:effectLst>
            <a:outerShdw sx="100000" sy="100000" kx="0" ky="0" algn="bl" rotWithShape="0" blurRad="101600" dist="38100" dir="8100000">
              <a:srgbClr val="000000">
                <a:alpha val="18000"/>
              </a:srgbClr>
            </a:outerShdw>
          </a:effectLst>
        </p:spPr>
      </p:sp>
      <p:sp>
        <p:nvSpPr>
          <p:cNvPr id="31" name="Shape 29"/>
          <p:cNvSpPr/>
          <p:nvPr/>
        </p:nvSpPr>
        <p:spPr>
          <a:xfrm>
            <a:off x="3547872" y="2688336"/>
            <a:ext cx="256032" cy="603504"/>
          </a:xfrm>
          <a:prstGeom prst="rect">
            <a:avLst/>
          </a:prstGeom>
          <a:solidFill>
            <a:srgbClr val="028090"/>
          </a:solidFill>
          <a:ln w="12700">
            <a:solidFill>
              <a:srgbClr val="028090"/>
            </a:solidFill>
            <a:prstDash val="solid"/>
          </a:ln>
        </p:spPr>
      </p:sp>
      <p:sp>
        <p:nvSpPr>
          <p:cNvPr id="32" name="Text 30"/>
          <p:cNvSpPr/>
          <p:nvPr/>
        </p:nvSpPr>
        <p:spPr>
          <a:xfrm>
            <a:off x="3547872" y="2688336"/>
            <a:ext cx="256032" cy="603504"/>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3" name="Text 31"/>
          <p:cNvSpPr/>
          <p:nvPr/>
        </p:nvSpPr>
        <p:spPr>
          <a:xfrm>
            <a:off x="3877056" y="2743200"/>
            <a:ext cx="4791456" cy="256032"/>
          </a:xfrm>
          <a:prstGeom prst="rect">
            <a:avLst/>
          </a:prstGeom>
          <a:noFill/>
          <a:ln/>
        </p:spPr>
        <p:txBody>
          <a:bodyPr wrap="square" lIns="0" tIns="0" rIns="0" bIns="0" rtlCol="0" anchor="ctr"/>
          <a:lstStyle/>
          <a:p>
            <a:pPr indent="0" marL="0">
              <a:buNone/>
            </a:pPr>
            <a:r>
              <a:rPr lang="en-US" sz="1250" b="1" dirty="0">
                <a:solidFill>
                  <a:srgbClr val="FFFFFF"/>
                </a:solidFill>
              </a:rPr>
              <a:t>Social Awareness</a:t>
            </a:r>
            <a:endParaRPr lang="en-US" sz="1250" dirty="0"/>
          </a:p>
        </p:txBody>
      </p:sp>
      <p:sp>
        <p:nvSpPr>
          <p:cNvPr id="34" name="Text 32"/>
          <p:cNvSpPr/>
          <p:nvPr/>
        </p:nvSpPr>
        <p:spPr>
          <a:xfrm>
            <a:off x="3877056" y="3017520"/>
            <a:ext cx="4791456" cy="237744"/>
          </a:xfrm>
          <a:prstGeom prst="rect">
            <a:avLst/>
          </a:prstGeom>
          <a:noFill/>
          <a:ln/>
        </p:spPr>
        <p:txBody>
          <a:bodyPr wrap="square" lIns="0" tIns="0" rIns="0" bIns="0" rtlCol="0" anchor="ctr"/>
          <a:lstStyle/>
          <a:p>
            <a:pPr indent="0" marL="0">
              <a:buNone/>
            </a:pPr>
            <a:r>
              <a:rPr lang="en-US" sz="950" dirty="0">
                <a:solidFill>
                  <a:srgbClr val="A8B2BB"/>
                </a:solidFill>
              </a:rPr>
              <a:t>Understanding others' perspectives</a:t>
            </a:r>
            <a:endParaRPr lang="en-US" sz="950" dirty="0"/>
          </a:p>
        </p:txBody>
      </p:sp>
      <p:sp>
        <p:nvSpPr>
          <p:cNvPr id="35" name="Shape 33"/>
          <p:cNvSpPr/>
          <p:nvPr/>
        </p:nvSpPr>
        <p:spPr>
          <a:xfrm>
            <a:off x="3547872" y="3383280"/>
            <a:ext cx="5257800" cy="603504"/>
          </a:xfrm>
          <a:prstGeom prst="rect">
            <a:avLst/>
          </a:prstGeom>
          <a:solidFill>
            <a:srgbClr val="162436"/>
          </a:solidFill>
          <a:ln w="12700">
            <a:solidFill>
              <a:srgbClr val="1A3A3A"/>
            </a:solidFill>
            <a:prstDash val="solid"/>
          </a:ln>
          <a:effectLst>
            <a:outerShdw sx="100000" sy="100000" kx="0" ky="0" algn="bl" rotWithShape="0" blurRad="101600" dist="38100" dir="8100000">
              <a:srgbClr val="000000">
                <a:alpha val="18000"/>
              </a:srgbClr>
            </a:outerShdw>
          </a:effectLst>
        </p:spPr>
      </p:sp>
      <p:sp>
        <p:nvSpPr>
          <p:cNvPr id="36" name="Shape 34"/>
          <p:cNvSpPr/>
          <p:nvPr/>
        </p:nvSpPr>
        <p:spPr>
          <a:xfrm>
            <a:off x="3547872" y="3383280"/>
            <a:ext cx="256032" cy="603504"/>
          </a:xfrm>
          <a:prstGeom prst="rect">
            <a:avLst/>
          </a:prstGeom>
          <a:solidFill>
            <a:srgbClr val="05668D"/>
          </a:solidFill>
          <a:ln w="12700">
            <a:solidFill>
              <a:srgbClr val="05668D"/>
            </a:solidFill>
            <a:prstDash val="solid"/>
          </a:ln>
        </p:spPr>
      </p:sp>
      <p:sp>
        <p:nvSpPr>
          <p:cNvPr id="37" name="Text 35"/>
          <p:cNvSpPr/>
          <p:nvPr/>
        </p:nvSpPr>
        <p:spPr>
          <a:xfrm>
            <a:off x="3547872" y="3383280"/>
            <a:ext cx="256032" cy="603504"/>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38" name="Text 36"/>
          <p:cNvSpPr/>
          <p:nvPr/>
        </p:nvSpPr>
        <p:spPr>
          <a:xfrm>
            <a:off x="3877056" y="3438144"/>
            <a:ext cx="4791456" cy="256032"/>
          </a:xfrm>
          <a:prstGeom prst="rect">
            <a:avLst/>
          </a:prstGeom>
          <a:noFill/>
          <a:ln/>
        </p:spPr>
        <p:txBody>
          <a:bodyPr wrap="square" lIns="0" tIns="0" rIns="0" bIns="0" rtlCol="0" anchor="ctr"/>
          <a:lstStyle/>
          <a:p>
            <a:pPr indent="0" marL="0">
              <a:buNone/>
            </a:pPr>
            <a:r>
              <a:rPr lang="en-US" sz="1250" b="1" dirty="0">
                <a:solidFill>
                  <a:srgbClr val="FFFFFF"/>
                </a:solidFill>
              </a:rPr>
              <a:t>Relationship Skills</a:t>
            </a:r>
            <a:endParaRPr lang="en-US" sz="1250" dirty="0"/>
          </a:p>
        </p:txBody>
      </p:sp>
      <p:sp>
        <p:nvSpPr>
          <p:cNvPr id="39" name="Text 37"/>
          <p:cNvSpPr/>
          <p:nvPr/>
        </p:nvSpPr>
        <p:spPr>
          <a:xfrm>
            <a:off x="3877056" y="3712464"/>
            <a:ext cx="4791456" cy="237744"/>
          </a:xfrm>
          <a:prstGeom prst="rect">
            <a:avLst/>
          </a:prstGeom>
          <a:noFill/>
          <a:ln/>
        </p:spPr>
        <p:txBody>
          <a:bodyPr wrap="square" lIns="0" tIns="0" rIns="0" bIns="0" rtlCol="0" anchor="ctr"/>
          <a:lstStyle/>
          <a:p>
            <a:pPr indent="0" marL="0">
              <a:buNone/>
            </a:pPr>
            <a:r>
              <a:rPr lang="en-US" sz="950" dirty="0">
                <a:solidFill>
                  <a:srgbClr val="A8B2BB"/>
                </a:solidFill>
              </a:rPr>
              <a:t>Communicating and working with others</a:t>
            </a:r>
            <a:endParaRPr lang="en-US" sz="950" dirty="0"/>
          </a:p>
        </p:txBody>
      </p:sp>
      <p:sp>
        <p:nvSpPr>
          <p:cNvPr id="40" name="Shape 38"/>
          <p:cNvSpPr/>
          <p:nvPr/>
        </p:nvSpPr>
        <p:spPr>
          <a:xfrm>
            <a:off x="3547872" y="4078224"/>
            <a:ext cx="5257800" cy="603504"/>
          </a:xfrm>
          <a:prstGeom prst="rect">
            <a:avLst/>
          </a:prstGeom>
          <a:solidFill>
            <a:srgbClr val="162436"/>
          </a:solidFill>
          <a:ln w="12700">
            <a:solidFill>
              <a:srgbClr val="1A3A3A"/>
            </a:solidFill>
            <a:prstDash val="solid"/>
          </a:ln>
          <a:effectLst>
            <a:outerShdw sx="100000" sy="100000" kx="0" ky="0" algn="bl" rotWithShape="0" blurRad="101600" dist="38100" dir="8100000">
              <a:srgbClr val="000000">
                <a:alpha val="18000"/>
              </a:srgbClr>
            </a:outerShdw>
          </a:effectLst>
        </p:spPr>
      </p:sp>
      <p:sp>
        <p:nvSpPr>
          <p:cNvPr id="41" name="Shape 39"/>
          <p:cNvSpPr/>
          <p:nvPr/>
        </p:nvSpPr>
        <p:spPr>
          <a:xfrm>
            <a:off x="3547872" y="4078224"/>
            <a:ext cx="256032" cy="603504"/>
          </a:xfrm>
          <a:prstGeom prst="rect">
            <a:avLst/>
          </a:prstGeom>
          <a:solidFill>
            <a:srgbClr val="028090"/>
          </a:solidFill>
          <a:ln w="12700">
            <a:solidFill>
              <a:srgbClr val="028090"/>
            </a:solidFill>
            <a:prstDash val="solid"/>
          </a:ln>
        </p:spPr>
      </p:sp>
      <p:sp>
        <p:nvSpPr>
          <p:cNvPr id="42" name="Text 40"/>
          <p:cNvSpPr/>
          <p:nvPr/>
        </p:nvSpPr>
        <p:spPr>
          <a:xfrm>
            <a:off x="3547872" y="4078224"/>
            <a:ext cx="256032" cy="603504"/>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43" name="Text 41"/>
          <p:cNvSpPr/>
          <p:nvPr/>
        </p:nvSpPr>
        <p:spPr>
          <a:xfrm>
            <a:off x="3877056" y="4133088"/>
            <a:ext cx="4791456" cy="256032"/>
          </a:xfrm>
          <a:prstGeom prst="rect">
            <a:avLst/>
          </a:prstGeom>
          <a:noFill/>
          <a:ln/>
        </p:spPr>
        <p:txBody>
          <a:bodyPr wrap="square" lIns="0" tIns="0" rIns="0" bIns="0" rtlCol="0" anchor="ctr"/>
          <a:lstStyle/>
          <a:p>
            <a:pPr indent="0" marL="0">
              <a:buNone/>
            </a:pPr>
            <a:r>
              <a:rPr lang="en-US" sz="1250" b="1" dirty="0">
                <a:solidFill>
                  <a:srgbClr val="FFFFFF"/>
                </a:solidFill>
              </a:rPr>
              <a:t>Responsible Decision-Making</a:t>
            </a:r>
            <a:endParaRPr lang="en-US" sz="1250" dirty="0"/>
          </a:p>
        </p:txBody>
      </p:sp>
      <p:sp>
        <p:nvSpPr>
          <p:cNvPr id="44" name="Text 42"/>
          <p:cNvSpPr/>
          <p:nvPr/>
        </p:nvSpPr>
        <p:spPr>
          <a:xfrm>
            <a:off x="3877056" y="4407408"/>
            <a:ext cx="4791456" cy="237744"/>
          </a:xfrm>
          <a:prstGeom prst="rect">
            <a:avLst/>
          </a:prstGeom>
          <a:noFill/>
          <a:ln/>
        </p:spPr>
        <p:txBody>
          <a:bodyPr wrap="square" lIns="0" tIns="0" rIns="0" bIns="0" rtlCol="0" anchor="ctr"/>
          <a:lstStyle/>
          <a:p>
            <a:pPr indent="0" marL="0">
              <a:buNone/>
            </a:pPr>
            <a:r>
              <a:rPr lang="en-US" sz="950" dirty="0">
                <a:solidFill>
                  <a:srgbClr val="A8B2BB"/>
                </a:solidFill>
              </a:rPr>
              <a:t>Making ethical, constructive choices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56032"/>
            <a:ext cx="1463040" cy="256032"/>
          </a:xfrm>
          <a:prstGeom prst="roundRect">
            <a:avLst>
              <a:gd name="adj" fmla="val 17857"/>
            </a:avLst>
          </a:prstGeom>
          <a:solidFill>
            <a:srgbClr val="00C9A7">
              <a:alpha val="80000"/>
            </a:srgbClr>
          </a:solidFill>
          <a:ln w="12700">
            <a:solidFill>
              <a:srgbClr val="00C9A7"/>
            </a:solidFill>
            <a:prstDash val="solid"/>
          </a:ln>
        </p:spPr>
      </p:sp>
      <p:sp>
        <p:nvSpPr>
          <p:cNvPr id="3" name="Text 1"/>
          <p:cNvSpPr/>
          <p:nvPr/>
        </p:nvSpPr>
        <p:spPr>
          <a:xfrm>
            <a:off x="365760" y="256032"/>
            <a:ext cx="1463040" cy="256032"/>
          </a:xfrm>
          <a:prstGeom prst="rect">
            <a:avLst/>
          </a:prstGeom>
          <a:noFill/>
          <a:ln/>
        </p:spPr>
        <p:txBody>
          <a:bodyPr wrap="square" lIns="0" tIns="0" rIns="0" bIns="0" rtlCol="0" anchor="ctr"/>
          <a:lstStyle/>
          <a:p>
            <a:pPr algn="ctr" indent="0" marL="0">
              <a:buNone/>
            </a:pPr>
            <a:r>
              <a:rPr lang="en-US" sz="750" b="1" spc="150" kern="0" dirty="0">
                <a:solidFill>
                  <a:srgbClr val="FFFFFF"/>
                </a:solidFill>
              </a:rPr>
              <a:t>ADVANCED</a:t>
            </a:r>
            <a:endParaRPr lang="en-US" sz="750" dirty="0"/>
          </a:p>
        </p:txBody>
      </p:sp>
      <p:sp>
        <p:nvSpPr>
          <p:cNvPr id="4" name="Text 2"/>
          <p:cNvSpPr/>
          <p:nvPr/>
        </p:nvSpPr>
        <p:spPr>
          <a:xfrm>
            <a:off x="365760" y="658368"/>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Advanced Pipeline: n8n Workflow Integration</a:t>
            </a:r>
            <a:endParaRPr lang="en-US" sz="3000" dirty="0"/>
          </a:p>
        </p:txBody>
      </p:sp>
      <p:sp>
        <p:nvSpPr>
          <p:cNvPr id="5" name="Shape 3"/>
          <p:cNvSpPr/>
          <p:nvPr/>
        </p:nvSpPr>
        <p:spPr>
          <a:xfrm>
            <a:off x="365760" y="1188720"/>
            <a:ext cx="914400" cy="45720"/>
          </a:xfrm>
          <a:prstGeom prst="rect">
            <a:avLst/>
          </a:prstGeom>
          <a:solidFill>
            <a:srgbClr val="00C9A7"/>
          </a:solidFill>
          <a:ln w="12700">
            <a:solidFill>
              <a:srgbClr val="00C9A7"/>
            </a:solidFill>
            <a:prstDash val="solid"/>
          </a:ln>
        </p:spPr>
      </p:sp>
      <p:sp>
        <p:nvSpPr>
          <p:cNvPr id="6" name="Text 4"/>
          <p:cNvSpPr/>
          <p:nvPr/>
        </p:nvSpPr>
        <p:spPr>
          <a:xfrm>
            <a:off x="8229600" y="4800600"/>
            <a:ext cx="731520" cy="182880"/>
          </a:xfrm>
          <a:prstGeom prst="rect">
            <a:avLst/>
          </a:prstGeom>
          <a:noFill/>
          <a:ln/>
        </p:spPr>
        <p:txBody>
          <a:bodyPr wrap="square" lIns="0" tIns="0" rIns="0" bIns="0" rtlCol="0" anchor="ctr"/>
          <a:lstStyle/>
          <a:p>
            <a:pPr algn="r" indent="0" marL="0">
              <a:buNone/>
            </a:pPr>
            <a:r>
              <a:rPr lang="en-US" sz="900" dirty="0">
                <a:solidFill>
                  <a:srgbClr val="A8B2BB"/>
                </a:solidFill>
              </a:rPr>
              <a:t>8 / 10</a:t>
            </a:r>
            <a:endParaRPr lang="en-US" sz="900" dirty="0"/>
          </a:p>
        </p:txBody>
      </p:sp>
      <p:sp>
        <p:nvSpPr>
          <p:cNvPr id="7" name="Shape 5"/>
          <p:cNvSpPr/>
          <p:nvPr/>
        </p:nvSpPr>
        <p:spPr>
          <a:xfrm>
            <a:off x="457200" y="1353312"/>
            <a:ext cx="1737360" cy="658368"/>
          </a:xfrm>
          <a:prstGeom prst="rect">
            <a:avLst/>
          </a:prstGeom>
          <a:solidFill>
            <a:srgbClr val="162436"/>
          </a:solidFill>
          <a:ln w="12700">
            <a:solidFill>
              <a:srgbClr val="FF6B35"/>
            </a:solidFill>
            <a:prstDash val="solid"/>
          </a:ln>
          <a:effectLst>
            <a:outerShdw sx="100000" sy="100000" kx="0" ky="0" algn="bl" rotWithShape="0" blurRad="101600" dist="38100" dir="8100000">
              <a:srgbClr val="000000">
                <a:alpha val="18000"/>
              </a:srgbClr>
            </a:outerShdw>
          </a:effectLst>
        </p:spPr>
      </p:sp>
      <p:sp>
        <p:nvSpPr>
          <p:cNvPr id="8" name="Text 6"/>
          <p:cNvSpPr/>
          <p:nvPr/>
        </p:nvSpPr>
        <p:spPr>
          <a:xfrm>
            <a:off x="457200" y="1353312"/>
            <a:ext cx="1737360" cy="658368"/>
          </a:xfrm>
          <a:prstGeom prst="rect">
            <a:avLst/>
          </a:prstGeom>
          <a:noFill/>
          <a:ln/>
        </p:spPr>
        <p:txBody>
          <a:bodyPr wrap="square" lIns="0" tIns="0" rIns="0" bIns="0" rtlCol="0" anchor="ctr"/>
          <a:lstStyle/>
          <a:p>
            <a:pPr algn="ctr" indent="0" marL="0">
              <a:buNone/>
            </a:pPr>
            <a:r>
              <a:rPr lang="en-US" sz="1100" b="1" dirty="0">
                <a:solidFill>
                  <a:srgbClr val="FF6B35"/>
                </a:solidFill>
              </a:rPr>
              <a:t>⚡ Webhook</a:t>
            </a:r>
            <a:endParaRPr lang="en-US" sz="1100" dirty="0"/>
          </a:p>
          <a:p>
            <a:pPr algn="ctr" indent="0" marL="0">
              <a:buNone/>
            </a:pPr>
            <a:r>
              <a:rPr lang="en-US" sz="1100" b="1" dirty="0">
                <a:solidFill>
                  <a:srgbClr val="FF6B35"/>
                </a:solidFill>
              </a:rPr>
              <a:t>Trigger (GET)</a:t>
            </a:r>
            <a:endParaRPr lang="en-US" sz="1100" dirty="0"/>
          </a:p>
        </p:txBody>
      </p:sp>
      <p:sp>
        <p:nvSpPr>
          <p:cNvPr id="9" name="Shape 7"/>
          <p:cNvSpPr/>
          <p:nvPr/>
        </p:nvSpPr>
        <p:spPr>
          <a:xfrm>
            <a:off x="2240280" y="1682496"/>
            <a:ext cx="411480" cy="0"/>
          </a:xfrm>
          <a:prstGeom prst="line">
            <a:avLst/>
          </a:prstGeom>
          <a:noFill/>
          <a:ln w="12700">
            <a:solidFill>
              <a:srgbClr val="A8B2BB"/>
            </a:solidFill>
            <a:prstDash val="solid"/>
          </a:ln>
        </p:spPr>
      </p:sp>
      <p:sp>
        <p:nvSpPr>
          <p:cNvPr id="10" name="Text 8"/>
          <p:cNvSpPr/>
          <p:nvPr/>
        </p:nvSpPr>
        <p:spPr>
          <a:xfrm>
            <a:off x="2578608" y="1563624"/>
            <a:ext cx="164592" cy="237744"/>
          </a:xfrm>
          <a:prstGeom prst="rect">
            <a:avLst/>
          </a:prstGeom>
          <a:noFill/>
          <a:ln/>
        </p:spPr>
        <p:txBody>
          <a:bodyPr wrap="square" lIns="0" tIns="0" rIns="0" bIns="0" rtlCol="0" anchor="ctr"/>
          <a:lstStyle/>
          <a:p>
            <a:pPr algn="ctr" indent="0" marL="0">
              <a:buNone/>
            </a:pPr>
            <a:r>
              <a:rPr lang="en-US" sz="1300" dirty="0">
                <a:solidFill>
                  <a:srgbClr val="A8B2BB"/>
                </a:solidFill>
              </a:rPr>
              <a:t>›</a:t>
            </a:r>
            <a:endParaRPr lang="en-US" sz="1300" dirty="0"/>
          </a:p>
        </p:txBody>
      </p:sp>
      <p:sp>
        <p:nvSpPr>
          <p:cNvPr id="11" name="Shape 9"/>
          <p:cNvSpPr/>
          <p:nvPr/>
        </p:nvSpPr>
        <p:spPr>
          <a:xfrm>
            <a:off x="2743200" y="1170432"/>
            <a:ext cx="2194560" cy="1005840"/>
          </a:xfrm>
          <a:prstGeom prst="rect">
            <a:avLst/>
          </a:prstGeom>
          <a:solidFill>
            <a:srgbClr val="162436"/>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2743200" y="1170432"/>
            <a:ext cx="2194560" cy="64008"/>
          </a:xfrm>
          <a:prstGeom prst="rect">
            <a:avLst/>
          </a:prstGeom>
          <a:solidFill>
            <a:srgbClr val="00C9A7"/>
          </a:solidFill>
          <a:ln w="12700">
            <a:solidFill>
              <a:srgbClr val="00C9A7"/>
            </a:solidFill>
            <a:prstDash val="solid"/>
          </a:ln>
        </p:spPr>
      </p:sp>
      <p:sp>
        <p:nvSpPr>
          <p:cNvPr id="13" name="Text 11"/>
          <p:cNvSpPr/>
          <p:nvPr/>
        </p:nvSpPr>
        <p:spPr>
          <a:xfrm>
            <a:off x="2816352" y="1261872"/>
            <a:ext cx="2048256" cy="457200"/>
          </a:xfrm>
          <a:prstGeom prst="rect">
            <a:avLst/>
          </a:prstGeom>
          <a:noFill/>
          <a:ln/>
        </p:spPr>
        <p:txBody>
          <a:bodyPr wrap="square" lIns="0" tIns="0" rIns="0" bIns="0" rtlCol="0" anchor="ctr"/>
          <a:lstStyle/>
          <a:p>
            <a:pPr algn="ctr" indent="0" marL="0">
              <a:buNone/>
            </a:pPr>
            <a:r>
              <a:rPr lang="en-US" sz="1200" b="1" dirty="0">
                <a:solidFill>
                  <a:srgbClr val="FFFFFF"/>
                </a:solidFill>
              </a:rPr>
              <a:t>🤖 Transcription</a:t>
            </a:r>
            <a:endParaRPr lang="en-US" sz="1200" dirty="0"/>
          </a:p>
          <a:p>
            <a:pPr algn="ctr" indent="0" marL="0">
              <a:buNone/>
            </a:pPr>
            <a:r>
              <a:rPr lang="en-US" sz="1200" b="1" dirty="0">
                <a:solidFill>
                  <a:srgbClr val="FFFFFF"/>
                </a:solidFill>
              </a:rPr>
              <a:t>Agent</a:t>
            </a:r>
            <a:endParaRPr lang="en-US" sz="1200" dirty="0"/>
          </a:p>
        </p:txBody>
      </p:sp>
      <p:sp>
        <p:nvSpPr>
          <p:cNvPr id="14" name="Text 12"/>
          <p:cNvSpPr/>
          <p:nvPr/>
        </p:nvSpPr>
        <p:spPr>
          <a:xfrm>
            <a:off x="2816352" y="1755648"/>
            <a:ext cx="2048256" cy="365760"/>
          </a:xfrm>
          <a:prstGeom prst="rect">
            <a:avLst/>
          </a:prstGeom>
          <a:noFill/>
          <a:ln/>
        </p:spPr>
        <p:txBody>
          <a:bodyPr wrap="square" lIns="0" tIns="0" rIns="0" bIns="0" rtlCol="0" anchor="ctr"/>
          <a:lstStyle/>
          <a:p>
            <a:pPr algn="ctr" indent="0" marL="0">
              <a:buNone/>
            </a:pPr>
            <a:r>
              <a:rPr lang="en-US" sz="900" dirty="0">
                <a:solidFill>
                  <a:srgbClr val="A8B2BB"/>
                </a:solidFill>
              </a:rPr>
              <a:t>Google Gemini</a:t>
            </a:r>
            <a:endParaRPr lang="en-US" sz="900" dirty="0"/>
          </a:p>
          <a:p>
            <a:pPr algn="ctr" indent="0" marL="0">
              <a:buNone/>
            </a:pPr>
            <a:r>
              <a:rPr lang="en-US" sz="900" dirty="0">
                <a:solidFill>
                  <a:srgbClr val="A8B2BB"/>
                </a:solidFill>
              </a:rPr>
              <a:t>Chat Model</a:t>
            </a:r>
            <a:endParaRPr lang="en-US" sz="900" dirty="0"/>
          </a:p>
        </p:txBody>
      </p:sp>
      <p:sp>
        <p:nvSpPr>
          <p:cNvPr id="15" name="Shape 13"/>
          <p:cNvSpPr/>
          <p:nvPr/>
        </p:nvSpPr>
        <p:spPr>
          <a:xfrm>
            <a:off x="4983480" y="1673352"/>
            <a:ext cx="411480" cy="0"/>
          </a:xfrm>
          <a:prstGeom prst="line">
            <a:avLst/>
          </a:prstGeom>
          <a:noFill/>
          <a:ln w="12700">
            <a:solidFill>
              <a:srgbClr val="A8B2BB"/>
            </a:solidFill>
            <a:prstDash val="solid"/>
          </a:ln>
        </p:spPr>
      </p:sp>
      <p:sp>
        <p:nvSpPr>
          <p:cNvPr id="16" name="Text 14"/>
          <p:cNvSpPr/>
          <p:nvPr/>
        </p:nvSpPr>
        <p:spPr>
          <a:xfrm>
            <a:off x="5321808" y="1554480"/>
            <a:ext cx="164592" cy="237744"/>
          </a:xfrm>
          <a:prstGeom prst="rect">
            <a:avLst/>
          </a:prstGeom>
          <a:noFill/>
          <a:ln/>
        </p:spPr>
        <p:txBody>
          <a:bodyPr wrap="square" lIns="0" tIns="0" rIns="0" bIns="0" rtlCol="0" anchor="ctr"/>
          <a:lstStyle/>
          <a:p>
            <a:pPr algn="ctr" indent="0" marL="0">
              <a:buNone/>
            </a:pPr>
            <a:r>
              <a:rPr lang="en-US" sz="1300" dirty="0">
                <a:solidFill>
                  <a:srgbClr val="A8B2BB"/>
                </a:solidFill>
              </a:rPr>
              <a:t>›</a:t>
            </a:r>
            <a:endParaRPr lang="en-US" sz="1300" dirty="0"/>
          </a:p>
        </p:txBody>
      </p:sp>
      <p:sp>
        <p:nvSpPr>
          <p:cNvPr id="17" name="Shape 15"/>
          <p:cNvSpPr/>
          <p:nvPr/>
        </p:nvSpPr>
        <p:spPr>
          <a:xfrm>
            <a:off x="5577840" y="1170432"/>
            <a:ext cx="2103120" cy="1005840"/>
          </a:xfrm>
          <a:prstGeom prst="rect">
            <a:avLst/>
          </a:prstGeom>
          <a:solidFill>
            <a:srgbClr val="162436"/>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5577840" y="1170432"/>
            <a:ext cx="2103120" cy="64008"/>
          </a:xfrm>
          <a:prstGeom prst="rect">
            <a:avLst/>
          </a:prstGeom>
          <a:solidFill>
            <a:srgbClr val="00C9A7"/>
          </a:solidFill>
          <a:ln w="12700">
            <a:solidFill>
              <a:srgbClr val="00C9A7"/>
            </a:solidFill>
            <a:prstDash val="solid"/>
          </a:ln>
        </p:spPr>
      </p:sp>
      <p:sp>
        <p:nvSpPr>
          <p:cNvPr id="19" name="Text 17"/>
          <p:cNvSpPr/>
          <p:nvPr/>
        </p:nvSpPr>
        <p:spPr>
          <a:xfrm>
            <a:off x="5650992" y="1261872"/>
            <a:ext cx="1956816" cy="457200"/>
          </a:xfrm>
          <a:prstGeom prst="rect">
            <a:avLst/>
          </a:prstGeom>
          <a:noFill/>
          <a:ln/>
        </p:spPr>
        <p:txBody>
          <a:bodyPr wrap="square" lIns="0" tIns="0" rIns="0" bIns="0" rtlCol="0" anchor="ctr"/>
          <a:lstStyle/>
          <a:p>
            <a:pPr algn="ctr" indent="0" marL="0">
              <a:buNone/>
            </a:pPr>
            <a:r>
              <a:rPr lang="en-US" sz="1200" b="1" dirty="0">
                <a:solidFill>
                  <a:srgbClr val="FFFFFF"/>
                </a:solidFill>
              </a:rPr>
              <a:t>🤖 AI Agent</a:t>
            </a:r>
            <a:endParaRPr lang="en-US" sz="1200" dirty="0"/>
          </a:p>
        </p:txBody>
      </p:sp>
      <p:sp>
        <p:nvSpPr>
          <p:cNvPr id="20" name="Text 18"/>
          <p:cNvSpPr/>
          <p:nvPr/>
        </p:nvSpPr>
        <p:spPr>
          <a:xfrm>
            <a:off x="5650992" y="1755648"/>
            <a:ext cx="1956816" cy="365760"/>
          </a:xfrm>
          <a:prstGeom prst="rect">
            <a:avLst/>
          </a:prstGeom>
          <a:noFill/>
          <a:ln/>
        </p:spPr>
        <p:txBody>
          <a:bodyPr wrap="square" lIns="0" tIns="0" rIns="0" bIns="0" rtlCol="0" anchor="ctr"/>
          <a:lstStyle/>
          <a:p>
            <a:pPr algn="ctr" indent="0" marL="0">
              <a:buNone/>
            </a:pPr>
            <a:r>
              <a:rPr lang="en-US" sz="900" dirty="0">
                <a:solidFill>
                  <a:srgbClr val="A8B2BB"/>
                </a:solidFill>
              </a:rPr>
              <a:t>Google Gemini</a:t>
            </a:r>
            <a:endParaRPr lang="en-US" sz="900" dirty="0"/>
          </a:p>
          <a:p>
            <a:pPr algn="ctr" indent="0" marL="0">
              <a:buNone/>
            </a:pPr>
            <a:r>
              <a:rPr lang="en-US" sz="900" dirty="0">
                <a:solidFill>
                  <a:srgbClr val="A8B2BB"/>
                </a:solidFill>
              </a:rPr>
              <a:t>Chat Model</a:t>
            </a:r>
            <a:endParaRPr lang="en-US" sz="900" dirty="0"/>
          </a:p>
        </p:txBody>
      </p:sp>
      <p:sp>
        <p:nvSpPr>
          <p:cNvPr id="21" name="Shape 19"/>
          <p:cNvSpPr/>
          <p:nvPr/>
        </p:nvSpPr>
        <p:spPr>
          <a:xfrm>
            <a:off x="6172200" y="2286000"/>
            <a:ext cx="-1097280" cy="502920"/>
          </a:xfrm>
          <a:prstGeom prst="line">
            <a:avLst/>
          </a:prstGeom>
          <a:noFill/>
          <a:ln w="12700">
            <a:solidFill>
              <a:srgbClr val="A8B2BB"/>
            </a:solidFill>
            <a:prstDash val="solid"/>
          </a:ln>
        </p:spPr>
      </p:sp>
      <p:sp>
        <p:nvSpPr>
          <p:cNvPr id="22" name="Shape 20"/>
          <p:cNvSpPr/>
          <p:nvPr/>
        </p:nvSpPr>
        <p:spPr>
          <a:xfrm>
            <a:off x="7086600" y="2286000"/>
            <a:ext cx="1097280" cy="502920"/>
          </a:xfrm>
          <a:prstGeom prst="line">
            <a:avLst/>
          </a:prstGeom>
          <a:noFill/>
          <a:ln w="12700">
            <a:solidFill>
              <a:srgbClr val="A8B2BB"/>
            </a:solidFill>
            <a:prstDash val="solid"/>
          </a:ln>
        </p:spPr>
      </p:sp>
      <p:sp>
        <p:nvSpPr>
          <p:cNvPr id="23" name="Shape 21"/>
          <p:cNvSpPr/>
          <p:nvPr/>
        </p:nvSpPr>
        <p:spPr>
          <a:xfrm>
            <a:off x="3474720" y="2788920"/>
            <a:ext cx="2286000" cy="914400"/>
          </a:xfrm>
          <a:prstGeom prst="rect">
            <a:avLst/>
          </a:prstGeom>
          <a:solidFill>
            <a:srgbClr val="162436"/>
          </a:solidFill>
          <a:ln w="12700">
            <a:solidFill>
              <a:srgbClr val="6EA8FE"/>
            </a:solidFill>
            <a:prstDash val="solid"/>
          </a:ln>
          <a:effectLst>
            <a:outerShdw sx="100000" sy="100000" kx="0" ky="0" algn="bl" rotWithShape="0" blurRad="101600" dist="38100" dir="8100000">
              <a:srgbClr val="000000">
                <a:alpha val="18000"/>
              </a:srgbClr>
            </a:outerShdw>
          </a:effectLst>
        </p:spPr>
      </p:sp>
      <p:sp>
        <p:nvSpPr>
          <p:cNvPr id="24" name="Shape 22"/>
          <p:cNvSpPr/>
          <p:nvPr/>
        </p:nvSpPr>
        <p:spPr>
          <a:xfrm>
            <a:off x="3474720" y="2788920"/>
            <a:ext cx="2286000" cy="64008"/>
          </a:xfrm>
          <a:prstGeom prst="rect">
            <a:avLst/>
          </a:prstGeom>
          <a:solidFill>
            <a:srgbClr val="6EA8FE"/>
          </a:solidFill>
          <a:ln w="12700">
            <a:solidFill>
              <a:srgbClr val="6EA8FE"/>
            </a:solidFill>
            <a:prstDash val="solid"/>
          </a:ln>
        </p:spPr>
      </p:sp>
      <p:sp>
        <p:nvSpPr>
          <p:cNvPr id="25" name="Text 23"/>
          <p:cNvSpPr/>
          <p:nvPr/>
        </p:nvSpPr>
        <p:spPr>
          <a:xfrm>
            <a:off x="3547872" y="2880360"/>
            <a:ext cx="2139696" cy="457200"/>
          </a:xfrm>
          <a:prstGeom prst="rect">
            <a:avLst/>
          </a:prstGeom>
          <a:noFill/>
          <a:ln/>
        </p:spPr>
        <p:txBody>
          <a:bodyPr wrap="square" lIns="0" tIns="0" rIns="0" bIns="0" rtlCol="0" anchor="ctr"/>
          <a:lstStyle/>
          <a:p>
            <a:pPr algn="ctr" indent="0" marL="0">
              <a:buNone/>
            </a:pPr>
            <a:r>
              <a:rPr lang="en-US" sz="1150" b="1" dirty="0">
                <a:solidFill>
                  <a:srgbClr val="FFFFFF"/>
                </a:solidFill>
              </a:rPr>
              <a:t>🔍 RAG</a:t>
            </a:r>
            <a:endParaRPr lang="en-US" sz="1150" dirty="0"/>
          </a:p>
          <a:p>
            <a:pPr algn="ctr" indent="0" marL="0">
              <a:buNone/>
            </a:pPr>
            <a:r>
              <a:rPr lang="en-US" sz="1150" b="1" dirty="0">
                <a:solidFill>
                  <a:srgbClr val="FFFFFF"/>
                </a:solidFill>
              </a:rPr>
              <a:t>Contextualiser</a:t>
            </a:r>
            <a:endParaRPr lang="en-US" sz="1150" dirty="0"/>
          </a:p>
        </p:txBody>
      </p:sp>
      <p:sp>
        <p:nvSpPr>
          <p:cNvPr id="26" name="Shape 24"/>
          <p:cNvSpPr/>
          <p:nvPr/>
        </p:nvSpPr>
        <p:spPr>
          <a:xfrm>
            <a:off x="4617720" y="3739896"/>
            <a:ext cx="0" cy="347472"/>
          </a:xfrm>
          <a:prstGeom prst="line">
            <a:avLst/>
          </a:prstGeom>
          <a:noFill/>
          <a:ln w="12700">
            <a:solidFill>
              <a:srgbClr val="A8B2BB"/>
            </a:solidFill>
            <a:prstDash val="solid"/>
          </a:ln>
        </p:spPr>
      </p:sp>
      <p:sp>
        <p:nvSpPr>
          <p:cNvPr id="27" name="Shape 25"/>
          <p:cNvSpPr/>
          <p:nvPr/>
        </p:nvSpPr>
        <p:spPr>
          <a:xfrm>
            <a:off x="3657600" y="4087368"/>
            <a:ext cx="1920240" cy="530352"/>
          </a:xfrm>
          <a:prstGeom prst="rect">
            <a:avLst/>
          </a:prstGeom>
          <a:solidFill>
            <a:srgbClr val="091520"/>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28" name="Text 26"/>
          <p:cNvSpPr/>
          <p:nvPr/>
        </p:nvSpPr>
        <p:spPr>
          <a:xfrm>
            <a:off x="3657600" y="4087368"/>
            <a:ext cx="1920240" cy="530352"/>
          </a:xfrm>
          <a:prstGeom prst="rect">
            <a:avLst/>
          </a:prstGeom>
          <a:noFill/>
          <a:ln/>
        </p:spPr>
        <p:txBody>
          <a:bodyPr wrap="square" lIns="0" tIns="0" rIns="0" bIns="0" rtlCol="0" anchor="ctr"/>
          <a:lstStyle/>
          <a:p>
            <a:pPr algn="ctr" indent="0" marL="0">
              <a:buNone/>
            </a:pPr>
            <a:r>
              <a:rPr lang="en-US" sz="950" dirty="0">
                <a:solidFill>
                  <a:srgbClr val="00C9A7"/>
                </a:solidFill>
              </a:rPr>
              <a:t>🗄️ Supabase</a:t>
            </a:r>
            <a:endParaRPr lang="en-US" sz="950" dirty="0"/>
          </a:p>
          <a:p>
            <a:pPr algn="ctr" indent="0" marL="0">
              <a:buNone/>
            </a:pPr>
            <a:r>
              <a:rPr lang="en-US" sz="950" dirty="0">
                <a:solidFill>
                  <a:srgbClr val="00C9A7"/>
                </a:solidFill>
              </a:rPr>
              <a:t>Vector Store</a:t>
            </a:r>
            <a:endParaRPr lang="en-US" sz="950" dirty="0"/>
          </a:p>
        </p:txBody>
      </p:sp>
      <p:sp>
        <p:nvSpPr>
          <p:cNvPr id="29" name="Shape 27"/>
          <p:cNvSpPr/>
          <p:nvPr/>
        </p:nvSpPr>
        <p:spPr>
          <a:xfrm>
            <a:off x="6035040" y="2788920"/>
            <a:ext cx="2606040" cy="914400"/>
          </a:xfrm>
          <a:prstGeom prst="rect">
            <a:avLst/>
          </a:prstGeom>
          <a:solidFill>
            <a:srgbClr val="162436"/>
          </a:solidFill>
          <a:ln w="12700">
            <a:solidFill>
              <a:srgbClr val="FF6B35"/>
            </a:solidFill>
            <a:prstDash val="solid"/>
          </a:ln>
          <a:effectLst>
            <a:outerShdw sx="100000" sy="100000" kx="0" ky="0" algn="bl" rotWithShape="0" blurRad="101600" dist="38100" dir="8100000">
              <a:srgbClr val="000000">
                <a:alpha val="18000"/>
              </a:srgbClr>
            </a:outerShdw>
          </a:effectLst>
        </p:spPr>
      </p:sp>
      <p:sp>
        <p:nvSpPr>
          <p:cNvPr id="30" name="Shape 28"/>
          <p:cNvSpPr/>
          <p:nvPr/>
        </p:nvSpPr>
        <p:spPr>
          <a:xfrm>
            <a:off x="6035040" y="2788920"/>
            <a:ext cx="2606040" cy="64008"/>
          </a:xfrm>
          <a:prstGeom prst="rect">
            <a:avLst/>
          </a:prstGeom>
          <a:solidFill>
            <a:srgbClr val="FF6B35"/>
          </a:solidFill>
          <a:ln w="12700">
            <a:solidFill>
              <a:srgbClr val="FF6B35"/>
            </a:solidFill>
            <a:prstDash val="solid"/>
          </a:ln>
        </p:spPr>
      </p:sp>
      <p:sp>
        <p:nvSpPr>
          <p:cNvPr id="31" name="Text 29"/>
          <p:cNvSpPr/>
          <p:nvPr/>
        </p:nvSpPr>
        <p:spPr>
          <a:xfrm>
            <a:off x="6108192" y="2880360"/>
            <a:ext cx="2459736" cy="457200"/>
          </a:xfrm>
          <a:prstGeom prst="rect">
            <a:avLst/>
          </a:prstGeom>
          <a:noFill/>
          <a:ln/>
        </p:spPr>
        <p:txBody>
          <a:bodyPr wrap="square" lIns="0" tIns="0" rIns="0" bIns="0" rtlCol="0" anchor="ctr"/>
          <a:lstStyle/>
          <a:p>
            <a:pPr algn="ctr" indent="0" marL="0">
              <a:buNone/>
            </a:pPr>
            <a:r>
              <a:rPr lang="en-US" sz="1050" b="1" dirty="0">
                <a:solidFill>
                  <a:srgbClr val="FFFFFF"/>
                </a:solidFill>
              </a:rPr>
              <a:t>🎯 Emotion Analysis</a:t>
            </a:r>
            <a:endParaRPr lang="en-US" sz="1050" dirty="0"/>
          </a:p>
          <a:p>
            <a:pPr algn="ctr" indent="0" marL="0">
              <a:buNone/>
            </a:pPr>
            <a:r>
              <a:rPr lang="en-US" sz="1050" b="1" dirty="0">
                <a:solidFill>
                  <a:srgbClr val="FFFFFF"/>
                </a:solidFill>
              </a:rPr>
              <a:t>/ Flag / Summary</a:t>
            </a:r>
            <a:endParaRPr lang="en-US" sz="1050" dirty="0"/>
          </a:p>
        </p:txBody>
      </p:sp>
      <p:sp>
        <p:nvSpPr>
          <p:cNvPr id="32" name="Text 30"/>
          <p:cNvSpPr/>
          <p:nvPr/>
        </p:nvSpPr>
        <p:spPr>
          <a:xfrm>
            <a:off x="6108192" y="3374136"/>
            <a:ext cx="2459736" cy="274320"/>
          </a:xfrm>
          <a:prstGeom prst="rect">
            <a:avLst/>
          </a:prstGeom>
          <a:noFill/>
          <a:ln/>
        </p:spPr>
        <p:txBody>
          <a:bodyPr wrap="square" lIns="0" tIns="0" rIns="0" bIns="0" rtlCol="0" anchor="ctr"/>
          <a:lstStyle/>
          <a:p>
            <a:pPr algn="ctr" indent="0" marL="0">
              <a:buNone/>
            </a:pPr>
            <a:r>
              <a:rPr lang="en-US" sz="900" dirty="0">
                <a:solidFill>
                  <a:srgbClr val="A8B2BB"/>
                </a:solidFill>
              </a:rPr>
              <a:t>Google Gemini Chat Model</a:t>
            </a:r>
            <a:endParaRPr lang="en-US" sz="900" dirty="0"/>
          </a:p>
        </p:txBody>
      </p:sp>
      <p:sp>
        <p:nvSpPr>
          <p:cNvPr id="33" name="Text 31"/>
          <p:cNvSpPr/>
          <p:nvPr/>
        </p:nvSpPr>
        <p:spPr>
          <a:xfrm>
            <a:off x="365760" y="4736592"/>
            <a:ext cx="8412480" cy="256032"/>
          </a:xfrm>
          <a:prstGeom prst="rect">
            <a:avLst/>
          </a:prstGeom>
          <a:noFill/>
          <a:ln/>
        </p:spPr>
        <p:txBody>
          <a:bodyPr wrap="square" lIns="0" tIns="0" rIns="0" bIns="0" rtlCol="0" anchor="ctr"/>
          <a:lstStyle/>
          <a:p>
            <a:pPr algn="ctr" indent="0" marL="0">
              <a:buNone/>
            </a:pPr>
            <a:r>
              <a:rPr lang="en-US" sz="1000" i="1" dirty="0">
                <a:solidFill>
                  <a:srgbClr val="A8B2BB"/>
                </a:solidFill>
              </a:rPr>
              <a:t>Next-generation architecture using n8n for orchestration and RAG for contextual memory</a:t>
            </a:r>
            <a:endParaRPr lang="en-US" sz="1000" dirty="0"/>
          </a:p>
        </p:txBody>
      </p:sp>
      <p:pic>
        <p:nvPicPr>
          <p:cNvPr id="200" name="n8n_workflow"/>
          <p:cNvPicPr>
            <a:picLocks noChangeAspect="1"/>
          </p:cNvPicPr>
          <p:nvPr/>
        </p:nvPicPr>
        <p:blipFill>
          <a:blip r:embed="rId3"/>
          <a:stretch>
            <a:fillRect/>
          </a:stretch>
        </p:blipFill>
        <p:spPr>
          <a:xfrm>
            <a:off x="872000" y="1270000"/>
            <a:ext cx="7400000" cy="370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365760" y="256032"/>
            <a:ext cx="1463040" cy="256032"/>
          </a:xfrm>
          <a:prstGeom prst="roundRect">
            <a:avLst>
              <a:gd name="adj" fmla="val 17857"/>
            </a:avLst>
          </a:prstGeom>
          <a:solidFill>
            <a:srgbClr val="00C9A7">
              <a:alpha val="80000"/>
            </a:srgbClr>
          </a:solidFill>
          <a:ln w="12700">
            <a:solidFill>
              <a:srgbClr val="00C9A7"/>
            </a:solidFill>
            <a:prstDash val="solid"/>
          </a:ln>
        </p:spPr>
      </p:sp>
      <p:sp>
        <p:nvSpPr>
          <p:cNvPr id="3" name="Text 1"/>
          <p:cNvSpPr/>
          <p:nvPr/>
        </p:nvSpPr>
        <p:spPr>
          <a:xfrm>
            <a:off x="365760" y="256032"/>
            <a:ext cx="1463040" cy="256032"/>
          </a:xfrm>
          <a:prstGeom prst="rect">
            <a:avLst/>
          </a:prstGeom>
          <a:noFill/>
          <a:ln/>
        </p:spPr>
        <p:txBody>
          <a:bodyPr wrap="square" lIns="0" tIns="0" rIns="0" bIns="0" rtlCol="0" anchor="ctr"/>
          <a:lstStyle/>
          <a:p>
            <a:pPr algn="ctr" indent="0" marL="0">
              <a:buNone/>
            </a:pPr>
            <a:r>
              <a:rPr lang="en-US" sz="750" b="1" spc="150" kern="0" dirty="0">
                <a:solidFill>
                  <a:srgbClr val="FFFFFF"/>
                </a:solidFill>
              </a:rPr>
              <a:t>DEMO</a:t>
            </a:r>
            <a:endParaRPr lang="en-US" sz="750" dirty="0"/>
          </a:p>
        </p:txBody>
      </p:sp>
      <p:sp>
        <p:nvSpPr>
          <p:cNvPr id="4" name="Text 2"/>
          <p:cNvSpPr/>
          <p:nvPr/>
        </p:nvSpPr>
        <p:spPr>
          <a:xfrm>
            <a:off x="365760" y="658368"/>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Sample Conversations</a:t>
            </a:r>
            <a:endParaRPr lang="en-US" sz="3000" dirty="0"/>
          </a:p>
        </p:txBody>
      </p:sp>
      <p:sp>
        <p:nvSpPr>
          <p:cNvPr id="5" name="Shape 3"/>
          <p:cNvSpPr/>
          <p:nvPr/>
        </p:nvSpPr>
        <p:spPr>
          <a:xfrm>
            <a:off x="365760" y="1188720"/>
            <a:ext cx="914400" cy="45720"/>
          </a:xfrm>
          <a:prstGeom prst="rect">
            <a:avLst/>
          </a:prstGeom>
          <a:solidFill>
            <a:srgbClr val="00C9A7"/>
          </a:solidFill>
          <a:ln w="12700">
            <a:solidFill>
              <a:srgbClr val="00C9A7"/>
            </a:solidFill>
            <a:prstDash val="solid"/>
          </a:ln>
        </p:spPr>
      </p:sp>
      <p:sp>
        <p:nvSpPr>
          <p:cNvPr id="6" name="Text 4"/>
          <p:cNvSpPr/>
          <p:nvPr/>
        </p:nvSpPr>
        <p:spPr>
          <a:xfrm>
            <a:off x="8229600" y="4800600"/>
            <a:ext cx="731520" cy="182880"/>
          </a:xfrm>
          <a:prstGeom prst="rect">
            <a:avLst/>
          </a:prstGeom>
          <a:noFill/>
          <a:ln/>
        </p:spPr>
        <p:txBody>
          <a:bodyPr wrap="square" lIns="0" tIns="0" rIns="0" bIns="0" rtlCol="0" anchor="ctr"/>
          <a:lstStyle/>
          <a:p>
            <a:pPr algn="r" indent="0" marL="0">
              <a:buNone/>
            </a:pPr>
            <a:r>
              <a:rPr lang="en-US" sz="900" dirty="0">
                <a:solidFill>
                  <a:srgbClr val="A8B2BB"/>
                </a:solidFill>
              </a:rPr>
              <a:t>9 / 10</a:t>
            </a:r>
            <a:endParaRPr lang="en-US" sz="900" dirty="0"/>
          </a:p>
        </p:txBody>
      </p:sp>
      <p:sp>
        <p:nvSpPr>
          <p:cNvPr id="7" name="Shape 5"/>
          <p:cNvSpPr/>
          <p:nvPr/>
        </p:nvSpPr>
        <p:spPr>
          <a:xfrm>
            <a:off x="274320" y="1298448"/>
            <a:ext cx="2834640" cy="3401568"/>
          </a:xfrm>
          <a:prstGeom prst="rect">
            <a:avLst/>
          </a:prstGeom>
          <a:solidFill>
            <a:srgbClr val="162436"/>
          </a:solidFill>
          <a:ln w="12700">
            <a:solidFill>
              <a:srgbClr val="00C9A7"/>
            </a:solidFill>
            <a:prstDash val="solid"/>
          </a:ln>
          <a:effectLst>
            <a:outerShdw sx="100000" sy="100000" kx="0" ky="0" algn="bl" rotWithShape="0" blurRad="101600" dist="38100" dir="8100000">
              <a:srgbClr val="000000">
                <a:alpha val="18000"/>
              </a:srgbClr>
            </a:outerShdw>
          </a:effectLst>
        </p:spPr>
      </p:sp>
      <p:sp>
        <p:nvSpPr>
          <p:cNvPr id="8" name="Shape 6"/>
          <p:cNvSpPr/>
          <p:nvPr/>
        </p:nvSpPr>
        <p:spPr>
          <a:xfrm>
            <a:off x="274320" y="1298448"/>
            <a:ext cx="2834640" cy="347472"/>
          </a:xfrm>
          <a:prstGeom prst="rect">
            <a:avLst/>
          </a:prstGeom>
          <a:solidFill>
            <a:srgbClr val="00C9A7"/>
          </a:solidFill>
          <a:ln w="12700">
            <a:solidFill>
              <a:srgbClr val="00C9A7"/>
            </a:solidFill>
            <a:prstDash val="solid"/>
          </a:ln>
        </p:spPr>
      </p:sp>
      <p:sp>
        <p:nvSpPr>
          <p:cNvPr id="9" name="Text 7"/>
          <p:cNvSpPr/>
          <p:nvPr/>
        </p:nvSpPr>
        <p:spPr>
          <a:xfrm>
            <a:off x="274320" y="1298448"/>
            <a:ext cx="2834640" cy="347472"/>
          </a:xfrm>
          <a:prstGeom prst="rect">
            <a:avLst/>
          </a:prstGeom>
          <a:noFill/>
          <a:ln/>
        </p:spPr>
        <p:txBody>
          <a:bodyPr wrap="square" lIns="0" tIns="0" rIns="0" bIns="0" rtlCol="0" anchor="ctr"/>
          <a:lstStyle/>
          <a:p>
            <a:pPr algn="ctr" indent="0" marL="0">
              <a:buNone/>
            </a:pPr>
            <a:r>
              <a:rPr lang="en-US" sz="1100" b="1" dirty="0">
                <a:solidFill>
                  <a:srgbClr val="0D1B2A"/>
                </a:solidFill>
              </a:rPr>
              <a:t>Voice Input</a:t>
            </a:r>
            <a:endParaRPr lang="en-US" sz="1100" dirty="0"/>
          </a:p>
        </p:txBody>
      </p:sp>
      <p:sp>
        <p:nvSpPr>
          <p:cNvPr id="10" name="Text 8"/>
          <p:cNvSpPr/>
          <p:nvPr/>
        </p:nvSpPr>
        <p:spPr>
          <a:xfrm>
            <a:off x="384048" y="1719072"/>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INPUT</a:t>
            </a:r>
            <a:endParaRPr lang="en-US" sz="850" dirty="0"/>
          </a:p>
        </p:txBody>
      </p:sp>
      <p:sp>
        <p:nvSpPr>
          <p:cNvPr id="11" name="Text 9"/>
          <p:cNvSpPr/>
          <p:nvPr/>
        </p:nvSpPr>
        <p:spPr>
          <a:xfrm>
            <a:off x="384048" y="1901952"/>
            <a:ext cx="2615184" cy="292608"/>
          </a:xfrm>
          <a:prstGeom prst="rect">
            <a:avLst/>
          </a:prstGeom>
          <a:noFill/>
          <a:ln/>
        </p:spPr>
        <p:txBody>
          <a:bodyPr wrap="square" lIns="0" tIns="0" rIns="0" bIns="0" rtlCol="0" anchor="ctr"/>
          <a:lstStyle/>
          <a:p>
            <a:pPr indent="0" marL="0">
              <a:buNone/>
            </a:pPr>
            <a:r>
              <a:rPr lang="en-US" sz="1050" dirty="0">
                <a:solidFill>
                  <a:srgbClr val="FFFFFF"/>
                </a:solidFill>
              </a:rPr>
              <a:t>"Yeah, uh."</a:t>
            </a:r>
            <a:endParaRPr lang="en-US" sz="1050" dirty="0"/>
          </a:p>
        </p:txBody>
      </p:sp>
      <p:sp>
        <p:nvSpPr>
          <p:cNvPr id="12" name="Text 10"/>
          <p:cNvSpPr/>
          <p:nvPr/>
        </p:nvSpPr>
        <p:spPr>
          <a:xfrm>
            <a:off x="384048" y="2249424"/>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TRANSCRIPT</a:t>
            </a:r>
            <a:endParaRPr lang="en-US" sz="850" dirty="0"/>
          </a:p>
        </p:txBody>
      </p:sp>
      <p:sp>
        <p:nvSpPr>
          <p:cNvPr id="13" name="Text 11"/>
          <p:cNvSpPr/>
          <p:nvPr/>
        </p:nvSpPr>
        <p:spPr>
          <a:xfrm>
            <a:off x="384048" y="2432304"/>
            <a:ext cx="2615184" cy="292608"/>
          </a:xfrm>
          <a:prstGeom prst="rect">
            <a:avLst/>
          </a:prstGeom>
          <a:noFill/>
          <a:ln/>
        </p:spPr>
        <p:txBody>
          <a:bodyPr wrap="square" lIns="0" tIns="0" rIns="0" bIns="0" rtlCol="0" anchor="ctr"/>
          <a:lstStyle/>
          <a:p>
            <a:pPr indent="0" marL="0">
              <a:buNone/>
            </a:pPr>
            <a:r>
              <a:rPr lang="en-US" sz="1050" dirty="0">
                <a:solidFill>
                  <a:srgbClr val="A8B2BB"/>
                </a:solidFill>
              </a:rPr>
              <a:t>Yeah, uh.</a:t>
            </a:r>
            <a:endParaRPr lang="en-US" sz="1050" dirty="0"/>
          </a:p>
        </p:txBody>
      </p:sp>
      <p:sp>
        <p:nvSpPr>
          <p:cNvPr id="14" name="Text 12"/>
          <p:cNvSpPr/>
          <p:nvPr/>
        </p:nvSpPr>
        <p:spPr>
          <a:xfrm>
            <a:off x="384048" y="2779776"/>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EMOTION</a:t>
            </a:r>
            <a:endParaRPr lang="en-US" sz="850" dirty="0"/>
          </a:p>
        </p:txBody>
      </p:sp>
      <p:sp>
        <p:nvSpPr>
          <p:cNvPr id="15" name="Text 13"/>
          <p:cNvSpPr/>
          <p:nvPr/>
        </p:nvSpPr>
        <p:spPr>
          <a:xfrm>
            <a:off x="384048" y="2962656"/>
            <a:ext cx="2615184" cy="292608"/>
          </a:xfrm>
          <a:prstGeom prst="rect">
            <a:avLst/>
          </a:prstGeom>
          <a:noFill/>
          <a:ln/>
        </p:spPr>
        <p:txBody>
          <a:bodyPr wrap="square" lIns="0" tIns="0" rIns="0" bIns="0" rtlCol="0" anchor="ctr"/>
          <a:lstStyle/>
          <a:p>
            <a:pPr indent="0" marL="0">
              <a:buNone/>
            </a:pPr>
            <a:r>
              <a:rPr lang="en-US" sz="1050" dirty="0">
                <a:solidFill>
                  <a:srgbClr val="00C9A7"/>
                </a:solidFill>
              </a:rPr>
              <a:t>neutral</a:t>
            </a:r>
            <a:endParaRPr lang="en-US" sz="1050" dirty="0"/>
          </a:p>
        </p:txBody>
      </p:sp>
      <p:sp>
        <p:nvSpPr>
          <p:cNvPr id="16" name="Text 14"/>
          <p:cNvSpPr/>
          <p:nvPr/>
        </p:nvSpPr>
        <p:spPr>
          <a:xfrm>
            <a:off x="384048" y="3310128"/>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CASEL</a:t>
            </a:r>
            <a:endParaRPr lang="en-US" sz="850" dirty="0"/>
          </a:p>
        </p:txBody>
      </p:sp>
      <p:sp>
        <p:nvSpPr>
          <p:cNvPr id="17" name="Text 15"/>
          <p:cNvSpPr/>
          <p:nvPr/>
        </p:nvSpPr>
        <p:spPr>
          <a:xfrm>
            <a:off x="384048" y="3493008"/>
            <a:ext cx="2615184" cy="292608"/>
          </a:xfrm>
          <a:prstGeom prst="rect">
            <a:avLst/>
          </a:prstGeom>
          <a:noFill/>
          <a:ln/>
        </p:spPr>
        <p:txBody>
          <a:bodyPr wrap="square" lIns="0" tIns="0" rIns="0" bIns="0" rtlCol="0" anchor="ctr"/>
          <a:lstStyle/>
          <a:p>
            <a:pPr indent="0" marL="0">
              <a:buNone/>
            </a:pPr>
            <a:r>
              <a:rPr lang="en-US" sz="1050" dirty="0">
                <a:solidFill>
                  <a:srgbClr val="00C9A7"/>
                </a:solidFill>
              </a:rPr>
              <a:t>self-awareness</a:t>
            </a:r>
            <a:endParaRPr lang="en-US" sz="1050" dirty="0"/>
          </a:p>
        </p:txBody>
      </p:sp>
      <p:sp>
        <p:nvSpPr>
          <p:cNvPr id="18" name="Text 16"/>
          <p:cNvSpPr/>
          <p:nvPr/>
        </p:nvSpPr>
        <p:spPr>
          <a:xfrm>
            <a:off x="384048" y="3840480"/>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GEMINI</a:t>
            </a:r>
            <a:endParaRPr lang="en-US" sz="850" dirty="0"/>
          </a:p>
        </p:txBody>
      </p:sp>
      <p:sp>
        <p:nvSpPr>
          <p:cNvPr id="19" name="Text 17"/>
          <p:cNvSpPr/>
          <p:nvPr/>
        </p:nvSpPr>
        <p:spPr>
          <a:xfrm>
            <a:off x="384048" y="4023360"/>
            <a:ext cx="2615184" cy="292608"/>
          </a:xfrm>
          <a:prstGeom prst="rect">
            <a:avLst/>
          </a:prstGeom>
          <a:noFill/>
          <a:ln/>
        </p:spPr>
        <p:txBody>
          <a:bodyPr wrap="square" lIns="0" tIns="0" rIns="0" bIns="0" rtlCol="0" anchor="ctr"/>
          <a:lstStyle/>
          <a:p>
            <a:pPr indent="0" marL="0">
              <a:buNone/>
            </a:pPr>
            <a:r>
              <a:rPr lang="en-US" sz="1050" dirty="0">
                <a:solidFill>
                  <a:srgbClr val="A8B2BB"/>
                </a:solidFill>
              </a:rPr>
              <a:t>"It sounds like you're taking a moment to process your thoughts."</a:t>
            </a:r>
            <a:endParaRPr lang="en-US" sz="1050" dirty="0"/>
          </a:p>
        </p:txBody>
      </p:sp>
      <p:sp>
        <p:nvSpPr>
          <p:cNvPr id="20" name="Shape 18"/>
          <p:cNvSpPr/>
          <p:nvPr/>
        </p:nvSpPr>
        <p:spPr>
          <a:xfrm>
            <a:off x="3218688" y="1298448"/>
            <a:ext cx="2834640" cy="3401568"/>
          </a:xfrm>
          <a:prstGeom prst="rect">
            <a:avLst/>
          </a:prstGeom>
          <a:solidFill>
            <a:srgbClr val="162436"/>
          </a:solidFill>
          <a:ln w="12700">
            <a:solidFill>
              <a:srgbClr val="FF6B35"/>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218688" y="1298448"/>
            <a:ext cx="2834640" cy="347472"/>
          </a:xfrm>
          <a:prstGeom prst="rect">
            <a:avLst/>
          </a:prstGeom>
          <a:solidFill>
            <a:srgbClr val="FF6B35"/>
          </a:solidFill>
          <a:ln w="12700">
            <a:solidFill>
              <a:srgbClr val="FF6B35"/>
            </a:solidFill>
            <a:prstDash val="solid"/>
          </a:ln>
        </p:spPr>
      </p:sp>
      <p:sp>
        <p:nvSpPr>
          <p:cNvPr id="22" name="Text 20"/>
          <p:cNvSpPr/>
          <p:nvPr/>
        </p:nvSpPr>
        <p:spPr>
          <a:xfrm>
            <a:off x="3218688" y="1298448"/>
            <a:ext cx="2834640" cy="347472"/>
          </a:xfrm>
          <a:prstGeom prst="rect">
            <a:avLst/>
          </a:prstGeom>
          <a:noFill/>
          <a:ln/>
        </p:spPr>
        <p:txBody>
          <a:bodyPr wrap="square" lIns="0" tIns="0" rIns="0" bIns="0" rtlCol="0" anchor="ctr"/>
          <a:lstStyle/>
          <a:p>
            <a:pPr algn="ctr" indent="0" marL="0">
              <a:buNone/>
            </a:pPr>
            <a:r>
              <a:rPr lang="en-US" sz="1100" b="1" dirty="0">
                <a:solidFill>
                  <a:srgbClr val="0D1B2A"/>
                </a:solidFill>
              </a:rPr>
              <a:t>Voice Input</a:t>
            </a:r>
            <a:endParaRPr lang="en-US" sz="1100" dirty="0"/>
          </a:p>
        </p:txBody>
      </p:sp>
      <p:sp>
        <p:nvSpPr>
          <p:cNvPr id="23" name="Text 21"/>
          <p:cNvSpPr/>
          <p:nvPr/>
        </p:nvSpPr>
        <p:spPr>
          <a:xfrm>
            <a:off x="3328416" y="1719072"/>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INPUT</a:t>
            </a:r>
            <a:endParaRPr lang="en-US" sz="850" dirty="0"/>
          </a:p>
        </p:txBody>
      </p:sp>
      <p:sp>
        <p:nvSpPr>
          <p:cNvPr id="24" name="Text 22"/>
          <p:cNvSpPr/>
          <p:nvPr/>
        </p:nvSpPr>
        <p:spPr>
          <a:xfrm>
            <a:off x="3328416" y="1901952"/>
            <a:ext cx="2615184" cy="292608"/>
          </a:xfrm>
          <a:prstGeom prst="rect">
            <a:avLst/>
          </a:prstGeom>
          <a:noFill/>
          <a:ln/>
        </p:spPr>
        <p:txBody>
          <a:bodyPr wrap="square" lIns="0" tIns="0" rIns="0" bIns="0" rtlCol="0" anchor="ctr"/>
          <a:lstStyle/>
          <a:p>
            <a:pPr indent="0" marL="0">
              <a:buNone/>
            </a:pPr>
            <a:r>
              <a:rPr lang="en-US" sz="1050" dirty="0">
                <a:solidFill>
                  <a:srgbClr val="FFFFFF"/>
                </a:solidFill>
              </a:rPr>
              <a:t>"Hello, how are you doing?"</a:t>
            </a:r>
            <a:endParaRPr lang="en-US" sz="1050" dirty="0"/>
          </a:p>
        </p:txBody>
      </p:sp>
      <p:sp>
        <p:nvSpPr>
          <p:cNvPr id="25" name="Text 23"/>
          <p:cNvSpPr/>
          <p:nvPr/>
        </p:nvSpPr>
        <p:spPr>
          <a:xfrm>
            <a:off x="3328416" y="2249424"/>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TRANSCRIPT</a:t>
            </a:r>
            <a:endParaRPr lang="en-US" sz="850" dirty="0"/>
          </a:p>
        </p:txBody>
      </p:sp>
      <p:sp>
        <p:nvSpPr>
          <p:cNvPr id="26" name="Text 24"/>
          <p:cNvSpPr/>
          <p:nvPr/>
        </p:nvSpPr>
        <p:spPr>
          <a:xfrm>
            <a:off x="3328416" y="2432304"/>
            <a:ext cx="2615184" cy="292608"/>
          </a:xfrm>
          <a:prstGeom prst="rect">
            <a:avLst/>
          </a:prstGeom>
          <a:noFill/>
          <a:ln/>
        </p:spPr>
        <p:txBody>
          <a:bodyPr wrap="square" lIns="0" tIns="0" rIns="0" bIns="0" rtlCol="0" anchor="ctr"/>
          <a:lstStyle/>
          <a:p>
            <a:pPr indent="0" marL="0">
              <a:buNone/>
            </a:pPr>
            <a:r>
              <a:rPr lang="en-US" sz="1050" dirty="0">
                <a:solidFill>
                  <a:srgbClr val="A8B2BB"/>
                </a:solidFill>
              </a:rPr>
              <a:t>Hello, how are you doing?</a:t>
            </a:r>
            <a:endParaRPr lang="en-US" sz="1050" dirty="0"/>
          </a:p>
        </p:txBody>
      </p:sp>
      <p:sp>
        <p:nvSpPr>
          <p:cNvPr id="27" name="Text 25"/>
          <p:cNvSpPr/>
          <p:nvPr/>
        </p:nvSpPr>
        <p:spPr>
          <a:xfrm>
            <a:off x="3328416" y="2779776"/>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EMOTION</a:t>
            </a:r>
            <a:endParaRPr lang="en-US" sz="850" dirty="0"/>
          </a:p>
        </p:txBody>
      </p:sp>
      <p:sp>
        <p:nvSpPr>
          <p:cNvPr id="28" name="Text 26"/>
          <p:cNvSpPr/>
          <p:nvPr/>
        </p:nvSpPr>
        <p:spPr>
          <a:xfrm>
            <a:off x="3328416" y="2962656"/>
            <a:ext cx="2615184" cy="292608"/>
          </a:xfrm>
          <a:prstGeom prst="rect">
            <a:avLst/>
          </a:prstGeom>
          <a:noFill/>
          <a:ln/>
        </p:spPr>
        <p:txBody>
          <a:bodyPr wrap="square" lIns="0" tIns="0" rIns="0" bIns="0" rtlCol="0" anchor="ctr"/>
          <a:lstStyle/>
          <a:p>
            <a:pPr indent="0" marL="0">
              <a:buNone/>
            </a:pPr>
            <a:r>
              <a:rPr lang="en-US" sz="1050" dirty="0">
                <a:solidFill>
                  <a:srgbClr val="FF6B35"/>
                </a:solidFill>
              </a:rPr>
              <a:t>neutral</a:t>
            </a:r>
            <a:endParaRPr lang="en-US" sz="1050" dirty="0"/>
          </a:p>
        </p:txBody>
      </p:sp>
      <p:sp>
        <p:nvSpPr>
          <p:cNvPr id="29" name="Text 27"/>
          <p:cNvSpPr/>
          <p:nvPr/>
        </p:nvSpPr>
        <p:spPr>
          <a:xfrm>
            <a:off x="3328416" y="3310128"/>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CASEL</a:t>
            </a:r>
            <a:endParaRPr lang="en-US" sz="850" dirty="0"/>
          </a:p>
        </p:txBody>
      </p:sp>
      <p:sp>
        <p:nvSpPr>
          <p:cNvPr id="30" name="Text 28"/>
          <p:cNvSpPr/>
          <p:nvPr/>
        </p:nvSpPr>
        <p:spPr>
          <a:xfrm>
            <a:off x="3328416" y="3493008"/>
            <a:ext cx="2615184" cy="292608"/>
          </a:xfrm>
          <a:prstGeom prst="rect">
            <a:avLst/>
          </a:prstGeom>
          <a:noFill/>
          <a:ln/>
        </p:spPr>
        <p:txBody>
          <a:bodyPr wrap="square" lIns="0" tIns="0" rIns="0" bIns="0" rtlCol="0" anchor="ctr"/>
          <a:lstStyle/>
          <a:p>
            <a:pPr indent="0" marL="0">
              <a:buNone/>
            </a:pPr>
            <a:r>
              <a:rPr lang="en-US" sz="1050" dirty="0">
                <a:solidFill>
                  <a:srgbClr val="FF6B35"/>
                </a:solidFill>
              </a:rPr>
              <a:t>relationship-skills</a:t>
            </a:r>
            <a:endParaRPr lang="en-US" sz="1050" dirty="0"/>
          </a:p>
        </p:txBody>
      </p:sp>
      <p:sp>
        <p:nvSpPr>
          <p:cNvPr id="31" name="Text 29"/>
          <p:cNvSpPr/>
          <p:nvPr/>
        </p:nvSpPr>
        <p:spPr>
          <a:xfrm>
            <a:off x="3328416" y="3840480"/>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GEMINI</a:t>
            </a:r>
            <a:endParaRPr lang="en-US" sz="850" dirty="0"/>
          </a:p>
        </p:txBody>
      </p:sp>
      <p:sp>
        <p:nvSpPr>
          <p:cNvPr id="32" name="Text 30"/>
          <p:cNvSpPr/>
          <p:nvPr/>
        </p:nvSpPr>
        <p:spPr>
          <a:xfrm>
            <a:off x="3328416" y="4023360"/>
            <a:ext cx="2615184" cy="292608"/>
          </a:xfrm>
          <a:prstGeom prst="rect">
            <a:avLst/>
          </a:prstGeom>
          <a:noFill/>
          <a:ln/>
        </p:spPr>
        <p:txBody>
          <a:bodyPr wrap="square" lIns="0" tIns="0" rIns="0" bIns="0" rtlCol="0" anchor="ctr"/>
          <a:lstStyle/>
          <a:p>
            <a:pPr indent="0" marL="0">
              <a:buNone/>
            </a:pPr>
            <a:r>
              <a:rPr lang="en-US" sz="1050" dirty="0">
                <a:solidFill>
                  <a:srgbClr val="A8B2BB"/>
                </a:solidFill>
              </a:rPr>
              <a:t>"Thanks for checking in. I'm doing well."</a:t>
            </a:r>
            <a:endParaRPr lang="en-US" sz="1050" dirty="0"/>
          </a:p>
        </p:txBody>
      </p:sp>
      <p:sp>
        <p:nvSpPr>
          <p:cNvPr id="33" name="Shape 31"/>
          <p:cNvSpPr/>
          <p:nvPr/>
        </p:nvSpPr>
        <p:spPr>
          <a:xfrm>
            <a:off x="6163056" y="1298448"/>
            <a:ext cx="2834640" cy="3401568"/>
          </a:xfrm>
          <a:prstGeom prst="rect">
            <a:avLst/>
          </a:prstGeom>
          <a:solidFill>
            <a:srgbClr val="162436"/>
          </a:solidFill>
          <a:ln w="12700">
            <a:solidFill>
              <a:srgbClr val="6EA8FE"/>
            </a:solidFill>
            <a:prstDash val="solid"/>
          </a:ln>
          <a:effectLst>
            <a:outerShdw sx="100000" sy="100000" kx="0" ky="0" algn="bl" rotWithShape="0" blurRad="101600" dist="38100" dir="8100000">
              <a:srgbClr val="000000">
                <a:alpha val="18000"/>
              </a:srgbClr>
            </a:outerShdw>
          </a:effectLst>
        </p:spPr>
      </p:sp>
      <p:sp>
        <p:nvSpPr>
          <p:cNvPr id="34" name="Shape 32"/>
          <p:cNvSpPr/>
          <p:nvPr/>
        </p:nvSpPr>
        <p:spPr>
          <a:xfrm>
            <a:off x="6163056" y="1298448"/>
            <a:ext cx="2834640" cy="347472"/>
          </a:xfrm>
          <a:prstGeom prst="rect">
            <a:avLst/>
          </a:prstGeom>
          <a:solidFill>
            <a:srgbClr val="6EA8FE"/>
          </a:solidFill>
          <a:ln w="12700">
            <a:solidFill>
              <a:srgbClr val="6EA8FE"/>
            </a:solidFill>
            <a:prstDash val="solid"/>
          </a:ln>
        </p:spPr>
      </p:sp>
      <p:sp>
        <p:nvSpPr>
          <p:cNvPr id="35" name="Text 33"/>
          <p:cNvSpPr/>
          <p:nvPr/>
        </p:nvSpPr>
        <p:spPr>
          <a:xfrm>
            <a:off x="6163056" y="1298448"/>
            <a:ext cx="2834640" cy="347472"/>
          </a:xfrm>
          <a:prstGeom prst="rect">
            <a:avLst/>
          </a:prstGeom>
          <a:noFill/>
          <a:ln/>
        </p:spPr>
        <p:txBody>
          <a:bodyPr wrap="square" lIns="0" tIns="0" rIns="0" bIns="0" rtlCol="0" anchor="ctr"/>
          <a:lstStyle/>
          <a:p>
            <a:pPr algn="ctr" indent="0" marL="0">
              <a:buNone/>
            </a:pPr>
            <a:r>
              <a:rPr lang="en-US" sz="1100" b="1" dirty="0">
                <a:solidFill>
                  <a:srgbClr val="0D1B2A"/>
                </a:solidFill>
              </a:rPr>
              <a:t>Text Input</a:t>
            </a:r>
            <a:endParaRPr lang="en-US" sz="1100" dirty="0"/>
          </a:p>
        </p:txBody>
      </p:sp>
      <p:sp>
        <p:nvSpPr>
          <p:cNvPr id="36" name="Text 34"/>
          <p:cNvSpPr/>
          <p:nvPr/>
        </p:nvSpPr>
        <p:spPr>
          <a:xfrm>
            <a:off x="6272784" y="1719072"/>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INPUT</a:t>
            </a:r>
            <a:endParaRPr lang="en-US" sz="850" dirty="0"/>
          </a:p>
        </p:txBody>
      </p:sp>
      <p:sp>
        <p:nvSpPr>
          <p:cNvPr id="37" name="Text 35"/>
          <p:cNvSpPr/>
          <p:nvPr/>
        </p:nvSpPr>
        <p:spPr>
          <a:xfrm>
            <a:off x="6272784" y="1901952"/>
            <a:ext cx="2615184" cy="292608"/>
          </a:xfrm>
          <a:prstGeom prst="rect">
            <a:avLst/>
          </a:prstGeom>
          <a:noFill/>
          <a:ln/>
        </p:spPr>
        <p:txBody>
          <a:bodyPr wrap="square" lIns="0" tIns="0" rIns="0" bIns="0" rtlCol="0" anchor="ctr"/>
          <a:lstStyle/>
          <a:p>
            <a:pPr indent="0" marL="0">
              <a:buNone/>
            </a:pPr>
            <a:r>
              <a:rPr lang="en-US" sz="1050" dirty="0">
                <a:solidFill>
                  <a:srgbClr val="FFFFFF"/>
                </a:solidFill>
              </a:rPr>
              <a:t>"I feel really overwhelmed today."</a:t>
            </a:r>
            <a:endParaRPr lang="en-US" sz="1050" dirty="0"/>
          </a:p>
        </p:txBody>
      </p:sp>
      <p:sp>
        <p:nvSpPr>
          <p:cNvPr id="38" name="Text 36"/>
          <p:cNvSpPr/>
          <p:nvPr/>
        </p:nvSpPr>
        <p:spPr>
          <a:xfrm>
            <a:off x="6272784" y="2249424"/>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EMOTION</a:t>
            </a:r>
            <a:endParaRPr lang="en-US" sz="850" dirty="0"/>
          </a:p>
        </p:txBody>
      </p:sp>
      <p:sp>
        <p:nvSpPr>
          <p:cNvPr id="39" name="Text 37"/>
          <p:cNvSpPr/>
          <p:nvPr/>
        </p:nvSpPr>
        <p:spPr>
          <a:xfrm>
            <a:off x="6272784" y="2432304"/>
            <a:ext cx="2615184" cy="292608"/>
          </a:xfrm>
          <a:prstGeom prst="rect">
            <a:avLst/>
          </a:prstGeom>
          <a:noFill/>
          <a:ln/>
        </p:spPr>
        <p:txBody>
          <a:bodyPr wrap="square" lIns="0" tIns="0" rIns="0" bIns="0" rtlCol="0" anchor="ctr"/>
          <a:lstStyle/>
          <a:p>
            <a:pPr indent="0" marL="0">
              <a:buNone/>
            </a:pPr>
            <a:r>
              <a:rPr lang="en-US" sz="1050" dirty="0">
                <a:solidFill>
                  <a:srgbClr val="6EA8FE"/>
                </a:solidFill>
              </a:rPr>
              <a:t>sadness</a:t>
            </a:r>
            <a:endParaRPr lang="en-US" sz="1050" dirty="0"/>
          </a:p>
        </p:txBody>
      </p:sp>
      <p:sp>
        <p:nvSpPr>
          <p:cNvPr id="40" name="Text 38"/>
          <p:cNvSpPr/>
          <p:nvPr/>
        </p:nvSpPr>
        <p:spPr>
          <a:xfrm>
            <a:off x="6272784" y="2779776"/>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CASEL</a:t>
            </a:r>
            <a:endParaRPr lang="en-US" sz="850" dirty="0"/>
          </a:p>
        </p:txBody>
      </p:sp>
      <p:sp>
        <p:nvSpPr>
          <p:cNvPr id="41" name="Text 39"/>
          <p:cNvSpPr/>
          <p:nvPr/>
        </p:nvSpPr>
        <p:spPr>
          <a:xfrm>
            <a:off x="6272784" y="2962656"/>
            <a:ext cx="2615184" cy="292608"/>
          </a:xfrm>
          <a:prstGeom prst="rect">
            <a:avLst/>
          </a:prstGeom>
          <a:noFill/>
          <a:ln/>
        </p:spPr>
        <p:txBody>
          <a:bodyPr wrap="square" lIns="0" tIns="0" rIns="0" bIns="0" rtlCol="0" anchor="ctr"/>
          <a:lstStyle/>
          <a:p>
            <a:pPr indent="0" marL="0">
              <a:buNone/>
            </a:pPr>
            <a:r>
              <a:rPr lang="en-US" sz="1050" dirty="0">
                <a:solidFill>
                  <a:srgbClr val="6EA8FE"/>
                </a:solidFill>
              </a:rPr>
              <a:t>self-awareness</a:t>
            </a:r>
            <a:endParaRPr lang="en-US" sz="1050" dirty="0"/>
          </a:p>
        </p:txBody>
      </p:sp>
      <p:sp>
        <p:nvSpPr>
          <p:cNvPr id="42" name="Text 40"/>
          <p:cNvSpPr/>
          <p:nvPr/>
        </p:nvSpPr>
        <p:spPr>
          <a:xfrm>
            <a:off x="6272784" y="3310128"/>
            <a:ext cx="2615184" cy="182880"/>
          </a:xfrm>
          <a:prstGeom prst="rect">
            <a:avLst/>
          </a:prstGeom>
          <a:noFill/>
          <a:ln/>
        </p:spPr>
        <p:txBody>
          <a:bodyPr wrap="square" lIns="0" tIns="0" rIns="0" bIns="0" rtlCol="0" anchor="ctr"/>
          <a:lstStyle/>
          <a:p>
            <a:pPr indent="0" marL="0">
              <a:buNone/>
            </a:pPr>
            <a:r>
              <a:rPr lang="en-US" sz="850" b="1" spc="50" kern="0" dirty="0">
                <a:solidFill>
                  <a:srgbClr val="A8B2BB"/>
                </a:solidFill>
              </a:rPr>
              <a:t>GEMINI</a:t>
            </a:r>
            <a:endParaRPr lang="en-US" sz="850" dirty="0"/>
          </a:p>
        </p:txBody>
      </p:sp>
      <p:sp>
        <p:nvSpPr>
          <p:cNvPr id="43" name="Text 41"/>
          <p:cNvSpPr/>
          <p:nvPr/>
        </p:nvSpPr>
        <p:spPr>
          <a:xfrm>
            <a:off x="6272784" y="3493008"/>
            <a:ext cx="2615184" cy="292608"/>
          </a:xfrm>
          <a:prstGeom prst="rect">
            <a:avLst/>
          </a:prstGeom>
          <a:noFill/>
          <a:ln/>
        </p:spPr>
        <p:txBody>
          <a:bodyPr wrap="square" lIns="0" tIns="0" rIns="0" bIns="0" rtlCol="0" anchor="ctr"/>
          <a:lstStyle/>
          <a:p>
            <a:pPr indent="0" marL="0">
              <a:buNone/>
            </a:pPr>
            <a:r>
              <a:rPr lang="en-US" sz="1050" dirty="0">
                <a:solidFill>
                  <a:srgbClr val="A8B2BB"/>
                </a:solidFill>
              </a:rPr>
              <a:t>"It sounds like you're carrying a lot right now. Noticing these feelings is a meaningful first step."</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00C9A7"/>
          </a:solidFill>
          <a:ln w="12700">
            <a:solidFill>
              <a:srgbClr val="00C9A7"/>
            </a:solidFill>
            <a:prstDash val="solid"/>
          </a:ln>
        </p:spPr>
      </p:sp>
      <p:sp>
        <p:nvSpPr>
          <p:cNvPr id="3" name="Shape 1"/>
          <p:cNvSpPr/>
          <p:nvPr/>
        </p:nvSpPr>
        <p:spPr>
          <a:xfrm>
            <a:off x="365760" y="256032"/>
            <a:ext cx="1463040" cy="256032"/>
          </a:xfrm>
          <a:prstGeom prst="roundRect">
            <a:avLst>
              <a:gd name="adj" fmla="val 17857"/>
            </a:avLst>
          </a:prstGeom>
          <a:solidFill>
            <a:srgbClr val="00C9A7">
              <a:alpha val="80000"/>
            </a:srgbClr>
          </a:solidFill>
          <a:ln w="12700">
            <a:solidFill>
              <a:srgbClr val="00C9A7"/>
            </a:solidFill>
            <a:prstDash val="solid"/>
          </a:ln>
        </p:spPr>
      </p:sp>
      <p:sp>
        <p:nvSpPr>
          <p:cNvPr id="4" name="Text 2"/>
          <p:cNvSpPr/>
          <p:nvPr/>
        </p:nvSpPr>
        <p:spPr>
          <a:xfrm>
            <a:off x="365760" y="256032"/>
            <a:ext cx="1463040" cy="256032"/>
          </a:xfrm>
          <a:prstGeom prst="rect">
            <a:avLst/>
          </a:prstGeom>
          <a:noFill/>
          <a:ln/>
        </p:spPr>
        <p:txBody>
          <a:bodyPr wrap="square" lIns="0" tIns="0" rIns="0" bIns="0" rtlCol="0" anchor="ctr"/>
          <a:lstStyle/>
          <a:p>
            <a:pPr algn="ctr" indent="0" marL="0">
              <a:buNone/>
            </a:pPr>
            <a:r>
              <a:rPr lang="en-US" sz="750" b="1" spc="150" kern="0" dirty="0">
                <a:solidFill>
                  <a:srgbClr val="FFFFFF"/>
                </a:solidFill>
              </a:rPr>
              <a:t>ROADMAP</a:t>
            </a:r>
            <a:endParaRPr lang="en-US" sz="750" dirty="0"/>
          </a:p>
        </p:txBody>
      </p:sp>
      <p:sp>
        <p:nvSpPr>
          <p:cNvPr id="5" name="Text 3"/>
          <p:cNvSpPr/>
          <p:nvPr/>
        </p:nvSpPr>
        <p:spPr>
          <a:xfrm>
            <a:off x="365760" y="658368"/>
            <a:ext cx="8412480" cy="50292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What's Next</a:t>
            </a:r>
            <a:endParaRPr lang="en-US" sz="3000" dirty="0"/>
          </a:p>
        </p:txBody>
      </p:sp>
      <p:sp>
        <p:nvSpPr>
          <p:cNvPr id="6" name="Shape 4"/>
          <p:cNvSpPr/>
          <p:nvPr/>
        </p:nvSpPr>
        <p:spPr>
          <a:xfrm>
            <a:off x="365760" y="1188720"/>
            <a:ext cx="914400" cy="45720"/>
          </a:xfrm>
          <a:prstGeom prst="rect">
            <a:avLst/>
          </a:prstGeom>
          <a:solidFill>
            <a:srgbClr val="00C9A7"/>
          </a:solidFill>
          <a:ln w="12700">
            <a:solidFill>
              <a:srgbClr val="00C9A7"/>
            </a:solidFill>
            <a:prstDash val="solid"/>
          </a:ln>
        </p:spPr>
      </p:sp>
      <p:sp>
        <p:nvSpPr>
          <p:cNvPr id="7" name="Text 5"/>
          <p:cNvSpPr/>
          <p:nvPr/>
        </p:nvSpPr>
        <p:spPr>
          <a:xfrm>
            <a:off x="8229600" y="4800600"/>
            <a:ext cx="731520" cy="182880"/>
          </a:xfrm>
          <a:prstGeom prst="rect">
            <a:avLst/>
          </a:prstGeom>
          <a:noFill/>
          <a:ln/>
        </p:spPr>
        <p:txBody>
          <a:bodyPr wrap="square" lIns="0" tIns="0" rIns="0" bIns="0" rtlCol="0" anchor="ctr"/>
          <a:lstStyle/>
          <a:p>
            <a:pPr algn="r" indent="0" marL="0">
              <a:buNone/>
            </a:pPr>
            <a:r>
              <a:rPr lang="en-US" sz="900" dirty="0">
                <a:solidFill>
                  <a:srgbClr val="A8B2BB"/>
                </a:solidFill>
              </a:rPr>
              <a:t>10 / 10</a:t>
            </a:r>
            <a:endParaRPr lang="en-US" sz="900" dirty="0"/>
          </a:p>
        </p:txBody>
      </p:sp>
      <p:sp>
        <p:nvSpPr>
          <p:cNvPr id="8" name="Shape 6"/>
          <p:cNvSpPr/>
          <p:nvPr/>
        </p:nvSpPr>
        <p:spPr>
          <a:xfrm>
            <a:off x="320040" y="1325880"/>
            <a:ext cx="4114800" cy="914400"/>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320040" y="1325880"/>
            <a:ext cx="64008" cy="914400"/>
          </a:xfrm>
          <a:prstGeom prst="rect">
            <a:avLst/>
          </a:prstGeom>
          <a:solidFill>
            <a:srgbClr val="00C9A7"/>
          </a:solidFill>
          <a:ln w="12700">
            <a:solidFill>
              <a:srgbClr val="00C9A7"/>
            </a:solidFill>
            <a:prstDash val="solid"/>
          </a:ln>
        </p:spPr>
      </p:sp>
      <p:sp>
        <p:nvSpPr>
          <p:cNvPr id="10" name="Shape 8"/>
          <p:cNvSpPr/>
          <p:nvPr/>
        </p:nvSpPr>
        <p:spPr>
          <a:xfrm>
            <a:off x="484632" y="1527048"/>
            <a:ext cx="512064" cy="512064"/>
          </a:xfrm>
          <a:prstGeom prst="ellipse">
            <a:avLst/>
          </a:prstGeom>
          <a:solidFill>
            <a:srgbClr val="0D1B2A"/>
          </a:solidFill>
          <a:ln w="12700">
            <a:solidFill>
              <a:srgbClr val="00C9A7"/>
            </a:solidFill>
            <a:prstDash val="solid"/>
          </a:ln>
        </p:spPr>
      </p:sp>
      <p:sp>
        <p:nvSpPr>
          <p:cNvPr id="11" name="Text 9"/>
          <p:cNvSpPr/>
          <p:nvPr/>
        </p:nvSpPr>
        <p:spPr>
          <a:xfrm>
            <a:off x="484632" y="1527048"/>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2" name="Text 10"/>
          <p:cNvSpPr/>
          <p:nvPr/>
        </p:nvSpPr>
        <p:spPr>
          <a:xfrm>
            <a:off x="1106424" y="141732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RAG Contextualiser</a:t>
            </a:r>
            <a:endParaRPr lang="en-US" sz="1300" dirty="0"/>
          </a:p>
        </p:txBody>
      </p:sp>
      <p:sp>
        <p:nvSpPr>
          <p:cNvPr id="13" name="Text 11"/>
          <p:cNvSpPr/>
          <p:nvPr/>
        </p:nvSpPr>
        <p:spPr>
          <a:xfrm>
            <a:off x="1106424" y="1728216"/>
            <a:ext cx="3246120" cy="438912"/>
          </a:xfrm>
          <a:prstGeom prst="rect">
            <a:avLst/>
          </a:prstGeom>
          <a:noFill/>
          <a:ln/>
        </p:spPr>
        <p:txBody>
          <a:bodyPr wrap="square" lIns="0" tIns="0" rIns="0" bIns="0" rtlCol="0" anchor="ctr"/>
          <a:lstStyle/>
          <a:p>
            <a:pPr indent="0" marL="0">
              <a:buNone/>
            </a:pPr>
            <a:r>
              <a:rPr lang="en-US" sz="1000" dirty="0">
                <a:solidFill>
                  <a:srgbClr val="A8B2BB"/>
                </a:solidFill>
              </a:rPr>
              <a:t>Retrieve past conversations as context for richer, personalised responses</a:t>
            </a:r>
            <a:endParaRPr lang="en-US" sz="1000" dirty="0"/>
          </a:p>
        </p:txBody>
      </p:sp>
      <p:sp>
        <p:nvSpPr>
          <p:cNvPr id="14" name="Shape 12"/>
          <p:cNvSpPr/>
          <p:nvPr/>
        </p:nvSpPr>
        <p:spPr>
          <a:xfrm>
            <a:off x="4800600" y="1325880"/>
            <a:ext cx="4114800" cy="914400"/>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4800600" y="1325880"/>
            <a:ext cx="64008" cy="914400"/>
          </a:xfrm>
          <a:prstGeom prst="rect">
            <a:avLst/>
          </a:prstGeom>
          <a:solidFill>
            <a:srgbClr val="FF6B35"/>
          </a:solidFill>
          <a:ln w="12700">
            <a:solidFill>
              <a:srgbClr val="FF6B35"/>
            </a:solidFill>
            <a:prstDash val="solid"/>
          </a:ln>
        </p:spPr>
      </p:sp>
      <p:sp>
        <p:nvSpPr>
          <p:cNvPr id="16" name="Shape 14"/>
          <p:cNvSpPr/>
          <p:nvPr/>
        </p:nvSpPr>
        <p:spPr>
          <a:xfrm>
            <a:off x="4965192" y="1527048"/>
            <a:ext cx="512064" cy="512064"/>
          </a:xfrm>
          <a:prstGeom prst="ellipse">
            <a:avLst/>
          </a:prstGeom>
          <a:solidFill>
            <a:srgbClr val="0D1B2A"/>
          </a:solidFill>
          <a:ln w="12700">
            <a:solidFill>
              <a:srgbClr val="FF6B35"/>
            </a:solidFill>
            <a:prstDash val="solid"/>
          </a:ln>
        </p:spPr>
      </p:sp>
      <p:sp>
        <p:nvSpPr>
          <p:cNvPr id="17" name="Text 15"/>
          <p:cNvSpPr/>
          <p:nvPr/>
        </p:nvSpPr>
        <p:spPr>
          <a:xfrm>
            <a:off x="4965192" y="1527048"/>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18" name="Text 16"/>
          <p:cNvSpPr/>
          <p:nvPr/>
        </p:nvSpPr>
        <p:spPr>
          <a:xfrm>
            <a:off x="5586984" y="141732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Emotion Dashboard</a:t>
            </a:r>
            <a:endParaRPr lang="en-US" sz="1300" dirty="0"/>
          </a:p>
        </p:txBody>
      </p:sp>
      <p:sp>
        <p:nvSpPr>
          <p:cNvPr id="19" name="Text 17"/>
          <p:cNvSpPr/>
          <p:nvPr/>
        </p:nvSpPr>
        <p:spPr>
          <a:xfrm>
            <a:off x="5586984" y="1728216"/>
            <a:ext cx="3246120" cy="438912"/>
          </a:xfrm>
          <a:prstGeom prst="rect">
            <a:avLst/>
          </a:prstGeom>
          <a:noFill/>
          <a:ln/>
        </p:spPr>
        <p:txBody>
          <a:bodyPr wrap="square" lIns="0" tIns="0" rIns="0" bIns="0" rtlCol="0" anchor="ctr"/>
          <a:lstStyle/>
          <a:p>
            <a:pPr indent="0" marL="0">
              <a:buNone/>
            </a:pPr>
            <a:r>
              <a:rPr lang="en-US" sz="1000" dirty="0">
                <a:solidFill>
                  <a:srgbClr val="A8B2BB"/>
                </a:solidFill>
              </a:rPr>
              <a:t>Visualise emotion trends over time using charts and session history</a:t>
            </a:r>
            <a:endParaRPr lang="en-US" sz="1000" dirty="0"/>
          </a:p>
        </p:txBody>
      </p:sp>
      <p:sp>
        <p:nvSpPr>
          <p:cNvPr id="20" name="Shape 18"/>
          <p:cNvSpPr/>
          <p:nvPr/>
        </p:nvSpPr>
        <p:spPr>
          <a:xfrm>
            <a:off x="320040" y="2423160"/>
            <a:ext cx="4114800" cy="914400"/>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20040" y="2423160"/>
            <a:ext cx="64008" cy="914400"/>
          </a:xfrm>
          <a:prstGeom prst="rect">
            <a:avLst/>
          </a:prstGeom>
          <a:solidFill>
            <a:srgbClr val="00C9A7"/>
          </a:solidFill>
          <a:ln w="12700">
            <a:solidFill>
              <a:srgbClr val="00C9A7"/>
            </a:solidFill>
            <a:prstDash val="solid"/>
          </a:ln>
        </p:spPr>
      </p:sp>
      <p:sp>
        <p:nvSpPr>
          <p:cNvPr id="22" name="Shape 20"/>
          <p:cNvSpPr/>
          <p:nvPr/>
        </p:nvSpPr>
        <p:spPr>
          <a:xfrm>
            <a:off x="484632" y="2624328"/>
            <a:ext cx="512064" cy="512064"/>
          </a:xfrm>
          <a:prstGeom prst="ellipse">
            <a:avLst/>
          </a:prstGeom>
          <a:solidFill>
            <a:srgbClr val="0D1B2A"/>
          </a:solidFill>
          <a:ln w="12700">
            <a:solidFill>
              <a:srgbClr val="00C9A7"/>
            </a:solidFill>
            <a:prstDash val="solid"/>
          </a:ln>
        </p:spPr>
      </p:sp>
      <p:sp>
        <p:nvSpPr>
          <p:cNvPr id="23" name="Text 21"/>
          <p:cNvSpPr/>
          <p:nvPr/>
        </p:nvSpPr>
        <p:spPr>
          <a:xfrm>
            <a:off x="484632" y="2624328"/>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24" name="Text 22"/>
          <p:cNvSpPr/>
          <p:nvPr/>
        </p:nvSpPr>
        <p:spPr>
          <a:xfrm>
            <a:off x="1106424" y="251460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REST API Endpoint</a:t>
            </a:r>
            <a:endParaRPr lang="en-US" sz="1300" dirty="0"/>
          </a:p>
        </p:txBody>
      </p:sp>
      <p:sp>
        <p:nvSpPr>
          <p:cNvPr id="25" name="Text 23"/>
          <p:cNvSpPr/>
          <p:nvPr/>
        </p:nvSpPr>
        <p:spPr>
          <a:xfrm>
            <a:off x="1106424" y="2825496"/>
            <a:ext cx="3246120" cy="438912"/>
          </a:xfrm>
          <a:prstGeom prst="rect">
            <a:avLst/>
          </a:prstGeom>
          <a:noFill/>
          <a:ln/>
        </p:spPr>
        <p:txBody>
          <a:bodyPr wrap="square" lIns="0" tIns="0" rIns="0" bIns="0" rtlCol="0" anchor="ctr"/>
          <a:lstStyle/>
          <a:p>
            <a:pPr indent="0" marL="0">
              <a:buNone/>
            </a:pPr>
            <a:r>
              <a:rPr lang="en-US" sz="1000" dirty="0">
                <a:solidFill>
                  <a:srgbClr val="A8B2BB"/>
                </a:solidFill>
              </a:rPr>
              <a:t>Expose the pipeline via FastAPI for integration with web and mobile apps</a:t>
            </a:r>
            <a:endParaRPr lang="en-US" sz="1000" dirty="0"/>
          </a:p>
        </p:txBody>
      </p:sp>
      <p:sp>
        <p:nvSpPr>
          <p:cNvPr id="26" name="Shape 24"/>
          <p:cNvSpPr/>
          <p:nvPr/>
        </p:nvSpPr>
        <p:spPr>
          <a:xfrm>
            <a:off x="4800600" y="2423160"/>
            <a:ext cx="4114800" cy="914400"/>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4800600" y="2423160"/>
            <a:ext cx="64008" cy="914400"/>
          </a:xfrm>
          <a:prstGeom prst="rect">
            <a:avLst/>
          </a:prstGeom>
          <a:solidFill>
            <a:srgbClr val="FF6B35"/>
          </a:solidFill>
          <a:ln w="12700">
            <a:solidFill>
              <a:srgbClr val="FF6B35"/>
            </a:solidFill>
            <a:prstDash val="solid"/>
          </a:ln>
        </p:spPr>
      </p:sp>
      <p:sp>
        <p:nvSpPr>
          <p:cNvPr id="28" name="Shape 26"/>
          <p:cNvSpPr/>
          <p:nvPr/>
        </p:nvSpPr>
        <p:spPr>
          <a:xfrm>
            <a:off x="4965192" y="2624328"/>
            <a:ext cx="512064" cy="512064"/>
          </a:xfrm>
          <a:prstGeom prst="ellipse">
            <a:avLst/>
          </a:prstGeom>
          <a:solidFill>
            <a:srgbClr val="0D1B2A"/>
          </a:solidFill>
          <a:ln w="12700">
            <a:solidFill>
              <a:srgbClr val="FF6B35"/>
            </a:solidFill>
            <a:prstDash val="solid"/>
          </a:ln>
        </p:spPr>
      </p:sp>
      <p:sp>
        <p:nvSpPr>
          <p:cNvPr id="29" name="Text 27"/>
          <p:cNvSpPr/>
          <p:nvPr/>
        </p:nvSpPr>
        <p:spPr>
          <a:xfrm>
            <a:off x="4965192" y="2624328"/>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0" name="Text 28"/>
          <p:cNvSpPr/>
          <p:nvPr/>
        </p:nvSpPr>
        <p:spPr>
          <a:xfrm>
            <a:off x="5586984" y="251460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Mobile / Web UI</a:t>
            </a:r>
            <a:endParaRPr lang="en-US" sz="1300" dirty="0"/>
          </a:p>
        </p:txBody>
      </p:sp>
      <p:sp>
        <p:nvSpPr>
          <p:cNvPr id="31" name="Text 29"/>
          <p:cNvSpPr/>
          <p:nvPr/>
        </p:nvSpPr>
        <p:spPr>
          <a:xfrm>
            <a:off x="5586984" y="2825496"/>
            <a:ext cx="3246120" cy="438912"/>
          </a:xfrm>
          <a:prstGeom prst="rect">
            <a:avLst/>
          </a:prstGeom>
          <a:noFill/>
          <a:ln/>
        </p:spPr>
        <p:txBody>
          <a:bodyPr wrap="square" lIns="0" tIns="0" rIns="0" bIns="0" rtlCol="0" anchor="ctr"/>
          <a:lstStyle/>
          <a:p>
            <a:pPr indent="0" marL="0">
              <a:buNone/>
            </a:pPr>
            <a:r>
              <a:rPr lang="en-US" sz="1000" dirty="0">
                <a:solidFill>
                  <a:srgbClr val="A8B2BB"/>
                </a:solidFill>
              </a:rPr>
              <a:t>Move beyond the CLI to a browser-based or mobile-friendly interface</a:t>
            </a:r>
            <a:endParaRPr lang="en-US" sz="1000" dirty="0"/>
          </a:p>
        </p:txBody>
      </p:sp>
      <p:sp>
        <p:nvSpPr>
          <p:cNvPr id="32" name="Shape 30"/>
          <p:cNvSpPr/>
          <p:nvPr/>
        </p:nvSpPr>
        <p:spPr>
          <a:xfrm>
            <a:off x="320040" y="3520440"/>
            <a:ext cx="4114800" cy="914400"/>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320040" y="3520440"/>
            <a:ext cx="64008" cy="914400"/>
          </a:xfrm>
          <a:prstGeom prst="rect">
            <a:avLst/>
          </a:prstGeom>
          <a:solidFill>
            <a:srgbClr val="00C9A7"/>
          </a:solidFill>
          <a:ln w="12700">
            <a:solidFill>
              <a:srgbClr val="00C9A7"/>
            </a:solidFill>
            <a:prstDash val="solid"/>
          </a:ln>
        </p:spPr>
      </p:sp>
      <p:sp>
        <p:nvSpPr>
          <p:cNvPr id="34" name="Shape 32"/>
          <p:cNvSpPr/>
          <p:nvPr/>
        </p:nvSpPr>
        <p:spPr>
          <a:xfrm>
            <a:off x="484632" y="3721608"/>
            <a:ext cx="512064" cy="512064"/>
          </a:xfrm>
          <a:prstGeom prst="ellipse">
            <a:avLst/>
          </a:prstGeom>
          <a:solidFill>
            <a:srgbClr val="0D1B2A"/>
          </a:solidFill>
          <a:ln w="12700">
            <a:solidFill>
              <a:srgbClr val="00C9A7"/>
            </a:solidFill>
            <a:prstDash val="solid"/>
          </a:ln>
        </p:spPr>
      </p:sp>
      <p:sp>
        <p:nvSpPr>
          <p:cNvPr id="35" name="Text 33"/>
          <p:cNvSpPr/>
          <p:nvPr/>
        </p:nvSpPr>
        <p:spPr>
          <a:xfrm>
            <a:off x="484632" y="3721608"/>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36" name="Text 34"/>
          <p:cNvSpPr/>
          <p:nvPr/>
        </p:nvSpPr>
        <p:spPr>
          <a:xfrm>
            <a:off x="1106424" y="361188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Flagging System</a:t>
            </a:r>
            <a:endParaRPr lang="en-US" sz="1300" dirty="0"/>
          </a:p>
        </p:txBody>
      </p:sp>
      <p:sp>
        <p:nvSpPr>
          <p:cNvPr id="37" name="Text 35"/>
          <p:cNvSpPr/>
          <p:nvPr/>
        </p:nvSpPr>
        <p:spPr>
          <a:xfrm>
            <a:off x="1106424" y="3922776"/>
            <a:ext cx="3246120" cy="438912"/>
          </a:xfrm>
          <a:prstGeom prst="rect">
            <a:avLst/>
          </a:prstGeom>
          <a:noFill/>
          <a:ln/>
        </p:spPr>
        <p:txBody>
          <a:bodyPr wrap="square" lIns="0" tIns="0" rIns="0" bIns="0" rtlCol="0" anchor="ctr"/>
          <a:lstStyle/>
          <a:p>
            <a:pPr indent="0" marL="0">
              <a:buNone/>
            </a:pPr>
            <a:r>
              <a:rPr lang="en-US" sz="1000" dirty="0">
                <a:solidFill>
                  <a:srgbClr val="A8B2BB"/>
                </a:solidFill>
              </a:rPr>
              <a:t>Auto-alert when high-distress emotions (anger, fear) are detected</a:t>
            </a:r>
            <a:endParaRPr lang="en-US" sz="1000" dirty="0"/>
          </a:p>
        </p:txBody>
      </p:sp>
      <p:sp>
        <p:nvSpPr>
          <p:cNvPr id="38" name="Shape 36"/>
          <p:cNvSpPr/>
          <p:nvPr/>
        </p:nvSpPr>
        <p:spPr>
          <a:xfrm>
            <a:off x="4800600" y="3520440"/>
            <a:ext cx="4114800" cy="914400"/>
          </a:xfrm>
          <a:prstGeom prst="rect">
            <a:avLst/>
          </a:prstGeom>
          <a:solidFill>
            <a:srgbClr val="162436"/>
          </a:solidFill>
          <a:ln w="12700">
            <a:solidFill>
              <a:srgbClr val="1A2A3A"/>
            </a:solidFill>
            <a:prstDash val="solid"/>
          </a:ln>
          <a:effectLst>
            <a:outerShdw sx="100000" sy="100000" kx="0" ky="0" algn="bl" rotWithShape="0" blurRad="101600" dist="38100" dir="8100000">
              <a:srgbClr val="000000">
                <a:alpha val="18000"/>
              </a:srgbClr>
            </a:outerShdw>
          </a:effectLst>
        </p:spPr>
      </p:sp>
      <p:sp>
        <p:nvSpPr>
          <p:cNvPr id="39" name="Shape 37"/>
          <p:cNvSpPr/>
          <p:nvPr/>
        </p:nvSpPr>
        <p:spPr>
          <a:xfrm>
            <a:off x="4800600" y="3520440"/>
            <a:ext cx="64008" cy="914400"/>
          </a:xfrm>
          <a:prstGeom prst="rect">
            <a:avLst/>
          </a:prstGeom>
          <a:solidFill>
            <a:srgbClr val="FF6B35"/>
          </a:solidFill>
          <a:ln w="12700">
            <a:solidFill>
              <a:srgbClr val="FF6B35"/>
            </a:solidFill>
            <a:prstDash val="solid"/>
          </a:ln>
        </p:spPr>
      </p:sp>
      <p:sp>
        <p:nvSpPr>
          <p:cNvPr id="40" name="Shape 38"/>
          <p:cNvSpPr/>
          <p:nvPr/>
        </p:nvSpPr>
        <p:spPr>
          <a:xfrm>
            <a:off x="4965192" y="3721608"/>
            <a:ext cx="512064" cy="512064"/>
          </a:xfrm>
          <a:prstGeom prst="ellipse">
            <a:avLst/>
          </a:prstGeom>
          <a:solidFill>
            <a:srgbClr val="0D1B2A"/>
          </a:solidFill>
          <a:ln w="12700">
            <a:solidFill>
              <a:srgbClr val="FF6B35"/>
            </a:solidFill>
            <a:prstDash val="solid"/>
          </a:ln>
        </p:spPr>
      </p:sp>
      <p:sp>
        <p:nvSpPr>
          <p:cNvPr id="41" name="Text 39"/>
          <p:cNvSpPr/>
          <p:nvPr/>
        </p:nvSpPr>
        <p:spPr>
          <a:xfrm>
            <a:off x="4965192" y="3721608"/>
            <a:ext cx="512064" cy="512064"/>
          </a:xfrm>
          <a:prstGeom prst="rect">
            <a:avLst/>
          </a:prstGeom>
          <a:noFill/>
          <a:ln/>
        </p:spPr>
        <p:txBody>
          <a:bodyPr wrap="square" lIns="0" tIns="0" rIns="0" bIns="0" rtlCol="0" anchor="ctr"/>
          <a:lstStyle/>
          <a:p>
            <a:pPr algn="ctr" indent="0" marL="0">
              <a:buNone/>
            </a:pPr>
            <a:r>
              <a:rPr lang="en-US" sz="1600" dirty="0">
                <a:solidFill>
                  <a:srgbClr val="000000"/>
                </a:solidFill>
              </a:rPr>
              <a:t>🔗</a:t>
            </a:r>
            <a:endParaRPr lang="en-US" sz="1600" dirty="0"/>
          </a:p>
        </p:txBody>
      </p:sp>
      <p:sp>
        <p:nvSpPr>
          <p:cNvPr id="42" name="Text 40"/>
          <p:cNvSpPr/>
          <p:nvPr/>
        </p:nvSpPr>
        <p:spPr>
          <a:xfrm>
            <a:off x="5586984" y="3611880"/>
            <a:ext cx="3246120" cy="292608"/>
          </a:xfrm>
          <a:prstGeom prst="rect">
            <a:avLst/>
          </a:prstGeom>
          <a:noFill/>
          <a:ln/>
        </p:spPr>
        <p:txBody>
          <a:bodyPr wrap="square" lIns="0" tIns="0" rIns="0" bIns="0" rtlCol="0" anchor="ctr"/>
          <a:lstStyle/>
          <a:p>
            <a:pPr indent="0" marL="0">
              <a:buNone/>
            </a:pPr>
            <a:r>
              <a:rPr lang="en-US" sz="1300" b="1" dirty="0">
                <a:solidFill>
                  <a:srgbClr val="FFFFFF"/>
                </a:solidFill>
              </a:rPr>
              <a:t>n8n Full Integration</a:t>
            </a:r>
            <a:endParaRPr lang="en-US" sz="1300" dirty="0"/>
          </a:p>
        </p:txBody>
      </p:sp>
      <p:sp>
        <p:nvSpPr>
          <p:cNvPr id="43" name="Text 41"/>
          <p:cNvSpPr/>
          <p:nvPr/>
        </p:nvSpPr>
        <p:spPr>
          <a:xfrm>
            <a:off x="5586984" y="3922776"/>
            <a:ext cx="3246120" cy="438912"/>
          </a:xfrm>
          <a:prstGeom prst="rect">
            <a:avLst/>
          </a:prstGeom>
          <a:noFill/>
          <a:ln/>
        </p:spPr>
        <p:txBody>
          <a:bodyPr wrap="square" lIns="0" tIns="0" rIns="0" bIns="0" rtlCol="0" anchor="ctr"/>
          <a:lstStyle/>
          <a:p>
            <a:pPr indent="0" marL="0">
              <a:buNone/>
            </a:pPr>
            <a:r>
              <a:rPr lang="en-US" sz="1000" dirty="0">
                <a:solidFill>
                  <a:srgbClr val="A8B2BB"/>
                </a:solidFill>
              </a:rPr>
              <a:t>Complete the advanced workflow with live webhook and vector store</a:t>
            </a:r>
            <a:endParaRPr lang="en-US" sz="1000" dirty="0"/>
          </a:p>
        </p:txBody>
      </p:sp>
      <p:sp>
        <p:nvSpPr>
          <p:cNvPr id="44" name="Text 42"/>
          <p:cNvSpPr/>
          <p:nvPr/>
        </p:nvSpPr>
        <p:spPr>
          <a:xfrm>
            <a:off x="365760" y="4681728"/>
            <a:ext cx="8412480" cy="292608"/>
          </a:xfrm>
          <a:prstGeom prst="rect">
            <a:avLst/>
          </a:prstGeom>
          <a:noFill/>
          <a:ln/>
        </p:spPr>
        <p:txBody>
          <a:bodyPr wrap="square" lIns="0" tIns="0" rIns="0" bIns="0" rtlCol="0" anchor="ctr"/>
          <a:lstStyle/>
          <a:p>
            <a:pPr algn="ctr" indent="0" marL="0">
              <a:buNone/>
            </a:pPr>
            <a:r>
              <a:rPr lang="en-US" sz="1300" i="1" dirty="0">
                <a:solidFill>
                  <a:srgbClr val="00C9A7"/>
                </a:solidFill>
              </a:rPr>
              <a:t>The foundation is built — the next chapter scales it to production.</a:t>
            </a:r>
            <a:endParaRPr lang="en-US" sz="1300" dirty="0"/>
          </a:p>
        </p:txBody>
      </p:sp>
      <p:sp>
        <p:nvSpPr>
          <p:cNvPr id="45" name="Shape 43"/>
          <p:cNvSpPr/>
          <p:nvPr/>
        </p:nvSpPr>
        <p:spPr>
          <a:xfrm>
            <a:off x="0" y="5029200"/>
            <a:ext cx="9144000" cy="114300"/>
          </a:xfrm>
          <a:prstGeom prst="rect">
            <a:avLst/>
          </a:prstGeom>
          <a:solidFill>
            <a:srgbClr val="00C9A7"/>
          </a:solidFill>
          <a:ln w="12700">
            <a:solidFill>
              <a:srgbClr val="00C9A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Voice Emotion Analyzer</dc:title>
  <dc:subject>PptxGenJS Presentation</dc:subject>
  <dc:creator>Shaun Mendis</dc:creator>
  <cp:lastModifiedBy>Shaun Mendis</cp:lastModifiedBy>
  <cp:revision>1</cp:revision>
  <dcterms:created xsi:type="dcterms:W3CDTF">2026-03-23T22:25:51Z</dcterms:created>
  <dcterms:modified xsi:type="dcterms:W3CDTF">2026-03-23T22:25:51Z</dcterms:modified>
</cp:coreProperties>
</file>